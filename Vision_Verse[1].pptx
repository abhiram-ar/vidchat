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00" r:id="rId9"/>
    <p:sldId id="263" r:id="rId10"/>
    <p:sldId id="264" r:id="rId11"/>
    <p:sldId id="296" r:id="rId12"/>
    <p:sldId id="302" r:id="rId13"/>
    <p:sldId id="303" r:id="rId14"/>
    <p:sldId id="304" r:id="rId15"/>
    <p:sldId id="269" r:id="rId16"/>
    <p:sldId id="271" r:id="rId17"/>
    <p:sldId id="266" r:id="rId18"/>
    <p:sldId id="273" r:id="rId19"/>
    <p:sldId id="299" r:id="rId20"/>
    <p:sldId id="268" r:id="rId21"/>
    <p:sldId id="306" r:id="rId22"/>
    <p:sldId id="275" r:id="rId23"/>
    <p:sldId id="276" r:id="rId24"/>
    <p:sldId id="277" r:id="rId25"/>
    <p:sldId id="278" r:id="rId26"/>
    <p:sldId id="301" r:id="rId27"/>
    <p:sldId id="279" r:id="rId28"/>
    <p:sldId id="280" r:id="rId29"/>
    <p:sldId id="281" r:id="rId30"/>
    <p:sldId id="282" r:id="rId31"/>
    <p:sldId id="289" r:id="rId32"/>
    <p:sldId id="290" r:id="rId33"/>
    <p:sldId id="297" r:id="rId34"/>
    <p:sldId id="283" r:id="rId35"/>
    <p:sldId id="286" r:id="rId36"/>
    <p:sldId id="287" r:id="rId37"/>
    <p:sldId id="288" r:id="rId38"/>
    <p:sldId id="305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1505"/>
    <a:srgbClr val="572403"/>
    <a:srgbClr val="491F0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88079" autoAdjust="0"/>
  </p:normalViewPr>
  <p:slideViewPr>
    <p:cSldViewPr snapToGrid="0">
      <p:cViewPr varScale="1">
        <p:scale>
          <a:sx n="93" d="100"/>
          <a:sy n="93" d="100"/>
        </p:scale>
        <p:origin x="7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5T07:00:46.290"/>
    </inkml:context>
    <inkml:brush xml:id="br0">
      <inkml:brushProperty name="width" value="0.1" units="cm"/>
      <inkml:brushProperty name="height" value="0.6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32 257,'0'10,"-4"6,0 10,-4 5,0 3,2 2,4-5,3-11,12-12,12-17,16-17,17-14,22-7,9-5,8 0,-5-1,-3 5,-8 1,-11 8,-11 8,-15 12,-19 13,-13 11,-19 14,-11 13,-13 6,-7 11,-1 15,0 6,-3 0,2-7,8-9,16-20,14-19,17-21,9-11,7-8,2 0,-2 1,-2 4,-4 0,-5 6,-10 9,-9 11,-12 5,-8 11,-3 1,-1 0,3 0,5-8,5-10,4-11,7-9,6-5,8-2,2-1,1-3,2 0,-4 1,-1 4,-3 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5T07:00:47.218"/>
    </inkml:context>
    <inkml:brush xml:id="br0">
      <inkml:brushProperty name="width" value="0.1" units="cm"/>
      <inkml:brushProperty name="height" value="0.6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796 72,'-17'14,"-27"19,-30 25,-25 13,-12 3,-4-1,8-6,19-15,22-12,21-17,18-22,25-21,21-10,18-11,12-7,15-8,8-6,3 6,5 4,-2 3,-4 9,-11 1,-14 8,-14 5,-10 8,-10 13,-7 11,-8 7,-8 5,-12 0,-5 3,-3 1,1 3,-2 5,-2-4,0-2,6-3,1-4,7-5,7-8,8-11,8-8,6-5,11-8,5 0,0 2,7 2,-1 2,-2-3,-7 1,-7 1,-8 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F357B3-8256-4E4B-A59A-B9AE6C359E37}" type="datetimeFigureOut">
              <a:rPr lang="en-IN" smtClean="0"/>
              <a:t>09-05-2024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0A12EF-067D-4E83-9697-ACC6FF48CD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467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0A12EF-067D-4E83-9697-ACC6FF48CDF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8129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phase architecture </a:t>
            </a:r>
            <a:br>
              <a:rPr lang="en-US" dirty="0"/>
            </a:br>
            <a:r>
              <a:rPr lang="en-US" dirty="0"/>
              <a:t>data </a:t>
            </a:r>
            <a:r>
              <a:rPr lang="en-US" dirty="0" err="1"/>
              <a:t>preaparation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where we collect the required video context using different </a:t>
            </a:r>
            <a:r>
              <a:rPr lang="en-US" dirty="0" err="1"/>
              <a:t>methodolodyies</a:t>
            </a:r>
            <a:r>
              <a:rPr lang="en-US" dirty="0"/>
              <a:t> and do some data per processing for improving the </a:t>
            </a:r>
            <a:r>
              <a:rPr lang="en-US" dirty="0" err="1"/>
              <a:t>effeccy</a:t>
            </a:r>
            <a:r>
              <a:rPr lang="en-US" dirty="0"/>
              <a:t> of the system and store it in the data bae</a:t>
            </a:r>
            <a:br>
              <a:rPr lang="en-US" dirty="0"/>
            </a:br>
            <a:r>
              <a:rPr lang="en-US" dirty="0"/>
              <a:t>data </a:t>
            </a:r>
            <a:r>
              <a:rPr lang="en-US" dirty="0" err="1"/>
              <a:t>retivela</a:t>
            </a:r>
            <a:r>
              <a:rPr lang="en-US" dirty="0"/>
              <a:t> and </a:t>
            </a:r>
            <a:r>
              <a:rPr lang="en-US" dirty="0" err="1"/>
              <a:t>augemented</a:t>
            </a:r>
            <a:r>
              <a:rPr lang="en-US" dirty="0"/>
              <a:t> generation where when the user ask a query  the system </a:t>
            </a:r>
            <a:r>
              <a:rPr lang="en-US" dirty="0" err="1"/>
              <a:t>geneate</a:t>
            </a:r>
            <a:r>
              <a:rPr lang="en-US" dirty="0"/>
              <a:t> answers based on context prepared </a:t>
            </a:r>
            <a:r>
              <a:rPr lang="en-US" dirty="0" err="1"/>
              <a:t>easrt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0A12EF-067D-4E83-9697-ACC6FF48CDF3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9664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extracted from source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an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0A12EF-067D-4E83-9697-ACC6FF48CDF3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1187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The self-attention mechanism in transformers also enables the model to consider the entire data sequence simultaneously.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0A12EF-067D-4E83-9697-ACC6FF48CDF3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317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The self-attention mechanism in transformers also enables the model to consider the entire data sequence simultaneously.</a:t>
            </a:r>
            <a:endParaRPr lang="en-IN" dirty="0"/>
          </a:p>
          <a:p>
            <a:r>
              <a:rPr lang="en-IN" dirty="0"/>
              <a:t>Cross attention allows to </a:t>
            </a:r>
            <a:r>
              <a:rPr lang="en-IN" dirty="0" err="1"/>
              <a:t>inegrate</a:t>
            </a:r>
            <a:r>
              <a:rPr lang="en-IN" dirty="0"/>
              <a:t> what is being generated so far and all the data in the encoder block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0A12EF-067D-4E83-9697-ACC6FF48CDF3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119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far we got the </a:t>
            </a:r>
            <a:r>
              <a:rPr lang="en-US" dirty="0" err="1"/>
              <a:t>metadta</a:t>
            </a:r>
            <a:r>
              <a:rPr lang="en-US" dirty="0"/>
              <a:t> and transcript in a file</a:t>
            </a:r>
          </a:p>
          <a:p>
            <a:r>
              <a:rPr lang="en-US" dirty="0"/>
              <a:t>Then we will slice this huge corpus of data to chunk slices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0A12EF-067D-4E83-9697-ACC6FF48CDF3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370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C9A5F-583A-1647-8019-0F0496D4D664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1FDEE-EB01-3E4B-801F-03B7D3EF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495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C9A5F-583A-1647-8019-0F0496D4D664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1FDEE-EB01-3E4B-801F-03B7D3EF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46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C9A5F-583A-1647-8019-0F0496D4D664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1FDEE-EB01-3E4B-801F-03B7D3EF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03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C9A5F-583A-1647-8019-0F0496D4D664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1FDEE-EB01-3E4B-801F-03B7D3EF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870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C9A5F-583A-1647-8019-0F0496D4D664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1FDEE-EB01-3E4B-801F-03B7D3EF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485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C9A5F-583A-1647-8019-0F0496D4D664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1FDEE-EB01-3E4B-801F-03B7D3EF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603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C9A5F-583A-1647-8019-0F0496D4D664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1FDEE-EB01-3E4B-801F-03B7D3EF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127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C9A5F-583A-1647-8019-0F0496D4D664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1FDEE-EB01-3E4B-801F-03B7D3EF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261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C9A5F-583A-1647-8019-0F0496D4D664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1FDEE-EB01-3E4B-801F-03B7D3EF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902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C9A5F-583A-1647-8019-0F0496D4D664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1FDEE-EB01-3E4B-801F-03B7D3EF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852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C9A5F-583A-1647-8019-0F0496D4D664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1FDEE-EB01-3E4B-801F-03B7D3EF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027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4C9A5F-583A-1647-8019-0F0496D4D664}" type="datetimeFigureOut">
              <a:rPr lang="en-US" smtClean="0"/>
              <a:t>5/9/2024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1FDEE-EB01-3E4B-801F-03B7D3EF7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670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customXml" Target="../ink/ink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D9B7A-F05D-D050-41CE-0458C2FB45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5155"/>
            <a:ext cx="9144000" cy="2387600"/>
          </a:xfrm>
          <a:ln>
            <a:noFill/>
          </a:ln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D07CA8-9221-731D-916A-F18ACD45C8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50398"/>
            <a:ext cx="9144000" cy="1655762"/>
          </a:xfrm>
          <a:ln>
            <a:noFill/>
          </a:ln>
        </p:spPr>
        <p:txBody>
          <a:bodyPr/>
          <a:lstStyle/>
          <a:p>
            <a:r>
              <a:rPr lang="en-IN" dirty="0">
                <a:solidFill>
                  <a:srgbClr val="2727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b="0" i="0" dirty="0">
                <a:solidFill>
                  <a:srgbClr val="2727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ynamic video question answering VIA </a:t>
            </a:r>
          </a:p>
          <a:p>
            <a:r>
              <a:rPr lang="en-IN" b="0" i="0" dirty="0">
                <a:solidFill>
                  <a:srgbClr val="2727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</a:t>
            </a:r>
            <a:r>
              <a:rPr lang="en-IN" dirty="0">
                <a:solidFill>
                  <a:srgbClr val="2727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IN" b="0" i="0" dirty="0">
                <a:solidFill>
                  <a:srgbClr val="2727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96442E-4CF8-B193-7E3B-C5CB65AE9D54}"/>
              </a:ext>
            </a:extLst>
          </p:cNvPr>
          <p:cNvSpPr txBox="1"/>
          <p:nvPr/>
        </p:nvSpPr>
        <p:spPr>
          <a:xfrm>
            <a:off x="1233376" y="5000960"/>
            <a:ext cx="2984920" cy="6463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Surekha Mariam Varghe</a:t>
            </a:r>
            <a:r>
              <a:rPr lang="en-US" dirty="0"/>
              <a:t>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6A7EC3-979A-D80A-B764-AFA33F5F035A}"/>
              </a:ext>
            </a:extLst>
          </p:cNvPr>
          <p:cNvSpPr txBox="1"/>
          <p:nvPr/>
        </p:nvSpPr>
        <p:spPr>
          <a:xfrm>
            <a:off x="8007690" y="4723960"/>
            <a:ext cx="3653564" cy="120032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Abhiram S Sajeev (MAC20CD003)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Adhya Sanil Joseph (MAC20CD005)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Amal Madhav T (MAC20CD009)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D2C3E2-B0B2-A90A-D968-E2E65C6D7302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53CE1A-EC0B-6E9C-C770-8148F9D81977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01</a:t>
            </a:r>
          </a:p>
        </p:txBody>
      </p:sp>
    </p:spTree>
    <p:extLst>
      <p:ext uri="{BB962C8B-B14F-4D97-AF65-F5344CB8AC3E}">
        <p14:creationId xmlns:p14="http://schemas.microsoft.com/office/powerpoint/2010/main" val="3586042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42A76-8BA3-3948-5CAD-6B6179F69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087" y="228617"/>
            <a:ext cx="10814853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2EEFB-5373-A82F-B717-A1B34DF65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7611" y="1382894"/>
            <a:ext cx="8566761" cy="4730935"/>
          </a:xfrm>
        </p:spPr>
        <p:txBody>
          <a:bodyPr>
            <a:noAutofit/>
          </a:bodyPr>
          <a:lstStyle/>
          <a:p>
            <a:r>
              <a:rPr lang="en-IN" sz="2500" dirty="0">
                <a:solidFill>
                  <a:srgbClr val="2727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500" b="0" i="0" dirty="0">
                <a:solidFill>
                  <a:srgbClr val="2727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500" b="0" i="0" dirty="0">
                <a:solidFill>
                  <a:srgbClr val="2727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500" b="0" i="0" dirty="0">
                <a:solidFill>
                  <a:srgbClr val="2727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500" dirty="0">
                <a:solidFill>
                  <a:srgbClr val="2727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500" dirty="0">
                <a:solidFill>
                  <a:srgbClr val="2727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500" b="0" i="0" dirty="0">
                <a:solidFill>
                  <a:srgbClr val="2727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500" b="0" i="0" dirty="0">
                <a:solidFill>
                  <a:srgbClr val="27272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500" dirty="0">
                <a:solidFill>
                  <a:srgbClr val="2727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 publication status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18776A-435F-0DDD-194A-50D858D7822F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F9EA2B-6DD9-4A13-B4B9-13F70B228396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02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8E4ED2-DFCA-FDAA-3C12-05C856C9D4E8}"/>
              </a:ext>
            </a:extLst>
          </p:cNvPr>
          <p:cNvSpPr txBox="1"/>
          <p:nvPr/>
        </p:nvSpPr>
        <p:spPr>
          <a:xfrm>
            <a:off x="6655981" y="-10121"/>
            <a:ext cx="55360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Verse : Dynamic video question answering through RAG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F81FD3-F464-6887-CE65-801DA3A08031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167AB9-C4B1-2516-0021-71990697AE6D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02</a:t>
            </a:r>
          </a:p>
        </p:txBody>
      </p:sp>
    </p:spTree>
    <p:extLst>
      <p:ext uri="{BB962C8B-B14F-4D97-AF65-F5344CB8AC3E}">
        <p14:creationId xmlns:p14="http://schemas.microsoft.com/office/powerpoint/2010/main" val="3860720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BD3A2-4A8D-09B7-7A18-3B01CCEB3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7319" y="1729196"/>
            <a:ext cx="792288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000" dirty="0">
              <a:solidFill>
                <a:srgbClr val="0F0E0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F0E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 in the form of video</a:t>
            </a:r>
          </a:p>
          <a:p>
            <a:r>
              <a:rPr lang="en-IN" sz="2000" dirty="0">
                <a:solidFill>
                  <a:srgbClr val="0F0E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 of video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F0E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 in the video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F0E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Click-bait titles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A505FD-BA20-32A9-B175-F6FC067AB550}"/>
              </a:ext>
            </a:extLst>
          </p:cNvPr>
          <p:cNvSpPr txBox="1"/>
          <p:nvPr/>
        </p:nvSpPr>
        <p:spPr>
          <a:xfrm>
            <a:off x="-30480" y="-10121"/>
            <a:ext cx="2109145" cy="6463308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dirty="0">
              <a:solidFill>
                <a:srgbClr val="2727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6D8421-4496-2B93-203D-A41F0D1516FC}"/>
              </a:ext>
            </a:extLst>
          </p:cNvPr>
          <p:cNvSpPr txBox="1"/>
          <p:nvPr/>
        </p:nvSpPr>
        <p:spPr>
          <a:xfrm>
            <a:off x="-1" y="297656"/>
            <a:ext cx="20786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844DB-DA99-3C31-AC82-30973B42665B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ED87A-0C5A-5D0B-0B0E-E386884C6CB1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03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0F44F-E504-405B-93CB-834D156B78D7}"/>
              </a:ext>
            </a:extLst>
          </p:cNvPr>
          <p:cNvSpPr txBox="1"/>
          <p:nvPr/>
        </p:nvSpPr>
        <p:spPr>
          <a:xfrm>
            <a:off x="6709145" y="-10121"/>
            <a:ext cx="54828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Verse : Dynamic video question answering through RAG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B7166F-45E3-1FD6-0923-12E53DB0BEA5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D6999E-2101-AF37-EEB2-92B0A53637F4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03</a:t>
            </a:r>
          </a:p>
        </p:txBody>
      </p:sp>
    </p:spTree>
    <p:extLst>
      <p:ext uri="{BB962C8B-B14F-4D97-AF65-F5344CB8AC3E}">
        <p14:creationId xmlns:p14="http://schemas.microsoft.com/office/powerpoint/2010/main" val="2845862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BD3A2-4A8D-09B7-7A18-3B01CCEB3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5550" y="2279650"/>
            <a:ext cx="8832850" cy="372719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5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create a chatbot using RA-LLM &amp; Vector-database for brief Q&amp;A session, which sources context from videos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A505FD-BA20-32A9-B175-F6FC067AB550}"/>
              </a:ext>
            </a:extLst>
          </p:cNvPr>
          <p:cNvSpPr txBox="1"/>
          <p:nvPr/>
        </p:nvSpPr>
        <p:spPr>
          <a:xfrm>
            <a:off x="-30480" y="-10121"/>
            <a:ext cx="2109145" cy="6463308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dirty="0">
              <a:solidFill>
                <a:srgbClr val="2727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6D8421-4496-2B93-203D-A41F0D1516FC}"/>
              </a:ext>
            </a:extLst>
          </p:cNvPr>
          <p:cNvSpPr txBox="1"/>
          <p:nvPr/>
        </p:nvSpPr>
        <p:spPr>
          <a:xfrm>
            <a:off x="0" y="818652"/>
            <a:ext cx="20786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844DB-DA99-3C31-AC82-30973B42665B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ED87A-0C5A-5D0B-0B0E-E386884C6CB1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04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0F44F-E504-405B-93CB-834D156B78D7}"/>
              </a:ext>
            </a:extLst>
          </p:cNvPr>
          <p:cNvSpPr txBox="1"/>
          <p:nvPr/>
        </p:nvSpPr>
        <p:spPr>
          <a:xfrm>
            <a:off x="6677247" y="-10121"/>
            <a:ext cx="55147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Verse : Dynamic video question answering through RAG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335735-2F8C-2E6A-C0A9-503E2E56189D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BA20C2-1610-E583-CE67-DD27C246A6EA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04</a:t>
            </a:r>
          </a:p>
        </p:txBody>
      </p:sp>
    </p:spTree>
    <p:extLst>
      <p:ext uri="{BB962C8B-B14F-4D97-AF65-F5344CB8AC3E}">
        <p14:creationId xmlns:p14="http://schemas.microsoft.com/office/powerpoint/2010/main" val="1301262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ABD3A2-4A8D-09B7-7A18-3B01CCEB38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30423" y="1299388"/>
                <a:ext cx="9307921" cy="4791740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IN" sz="2000" b="1" i="0" dirty="0">
                    <a:solidFill>
                      <a:srgbClr val="0F0E0C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[1]Ashish Vaswani, Noam </a:t>
                </a:r>
                <a:r>
                  <a:rPr lang="en-IN" sz="2000" b="1" i="0" dirty="0" err="1">
                    <a:solidFill>
                      <a:srgbClr val="0F0E0C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Shazeer</a:t>
                </a:r>
                <a:r>
                  <a:rPr lang="en-IN" sz="2000" b="1" i="0" dirty="0">
                    <a:solidFill>
                      <a:srgbClr val="0F0E0C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Niki Parmar, Jakob </a:t>
                </a:r>
                <a:r>
                  <a:rPr lang="en-IN" sz="2000" b="1" i="0" dirty="0" err="1">
                    <a:solidFill>
                      <a:srgbClr val="0F0E0C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Uszkoreit</a:t>
                </a:r>
                <a:r>
                  <a:rPr lang="en-IN" sz="2000" b="1" i="0" dirty="0">
                    <a:solidFill>
                      <a:srgbClr val="0F0E0C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IN" sz="2000" b="1" i="0" dirty="0" err="1">
                    <a:solidFill>
                      <a:srgbClr val="0F0E0C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Llion</a:t>
                </a:r>
                <a:r>
                  <a:rPr lang="en-IN" sz="2000" b="1" i="0" dirty="0">
                    <a:solidFill>
                      <a:srgbClr val="0F0E0C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Jones, Aidan N. Gomez, </a:t>
                </a:r>
                <a:r>
                  <a:rPr lang="en-IN" sz="2000" b="1" i="0" dirty="0" err="1">
                    <a:solidFill>
                      <a:srgbClr val="0F0E0C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Łukasz</a:t>
                </a:r>
                <a:r>
                  <a:rPr lang="en-IN" sz="2000" b="1" i="0" dirty="0">
                    <a:solidFill>
                      <a:srgbClr val="0F0E0C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Kaiser and </a:t>
                </a:r>
                <a:r>
                  <a:rPr lang="en-IN" sz="2000" b="1" i="0" dirty="0" err="1">
                    <a:solidFill>
                      <a:srgbClr val="0F0E0C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Illia</a:t>
                </a:r>
                <a:r>
                  <a:rPr lang="en-IN" sz="2000" b="1" i="0" dirty="0">
                    <a:solidFill>
                      <a:srgbClr val="0F0E0C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b="1" i="0" dirty="0" err="1">
                    <a:solidFill>
                      <a:srgbClr val="0F0E0C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Polosukhin</a:t>
                </a:r>
                <a:r>
                  <a:rPr lang="en-IN" sz="2000" b="1" i="0" dirty="0">
                    <a:solidFill>
                      <a:srgbClr val="0F0E0C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“Attention is all you need”, 2023//arXiv:1706.03762v7/</a:t>
                </a:r>
              </a:p>
              <a:p>
                <a:pPr marL="0" indent="0" algn="just">
                  <a:buNone/>
                </a:pPr>
                <a:endParaRPr lang="en-IN" sz="3200" b="0" i="0" dirty="0">
                  <a:solidFill>
                    <a:srgbClr val="0F0E0C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000" b="0" i="0" dirty="0">
                    <a:solidFill>
                      <a:srgbClr val="0F0E0C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Introduces a fresh neural network called the Transformer</a:t>
                </a: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000" b="0" i="0" dirty="0">
                    <a:solidFill>
                      <a:srgbClr val="0F0E0C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Transformer excels in language tasks, especially translation and parsing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2000" b="1" dirty="0">
                    <a:solidFill>
                      <a:srgbClr val="0F0E0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Disadvantages</a:t>
                </a:r>
                <a:r>
                  <a:rPr lang="en-IN" sz="2000" b="0" i="0" dirty="0">
                    <a:solidFill>
                      <a:srgbClr val="0F0E0C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</a:t>
                </a: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sz="2000" b="0" i="0" dirty="0">
                    <a:solidFill>
                      <a:srgbClr val="0F0E0C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Fixed context window</a:t>
                </a: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sz="2000" b="0" i="0" dirty="0">
                    <a:solidFill>
                      <a:srgbClr val="0F0E0C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Hallucination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IN" sz="2000" dirty="0">
                    <a:solidFill>
                      <a:srgbClr val="0F0E0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Quadratic time complexity (O(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000" i="1" dirty="0" smtClean="0">
                            <a:solidFill>
                              <a:srgbClr val="0F0E0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i="1" dirty="0" smtClean="0">
                            <a:solidFill>
                              <a:srgbClr val="0F0E0C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000" i="0" dirty="0" smtClean="0">
                            <a:solidFill>
                              <a:srgbClr val="0F0E0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sz="2000" dirty="0">
                    <a:solidFill>
                      <a:srgbClr val="0F0E0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))</a:t>
                </a: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ABD3A2-4A8D-09B7-7A18-3B01CCEB38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30423" y="1299388"/>
                <a:ext cx="9307921" cy="4791740"/>
              </a:xfrm>
              <a:blipFill>
                <a:blip r:embed="rId2"/>
                <a:stretch>
                  <a:fillRect l="-720" t="-1272" r="-6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70A505FD-BA20-32A9-B175-F6FC067AB550}"/>
              </a:ext>
            </a:extLst>
          </p:cNvPr>
          <p:cNvSpPr txBox="1"/>
          <p:nvPr/>
        </p:nvSpPr>
        <p:spPr>
          <a:xfrm>
            <a:off x="-30480" y="-10121"/>
            <a:ext cx="2109145" cy="6463308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dirty="0">
              <a:solidFill>
                <a:srgbClr val="2727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6D8421-4496-2B93-203D-A41F0D1516FC}"/>
              </a:ext>
            </a:extLst>
          </p:cNvPr>
          <p:cNvSpPr txBox="1"/>
          <p:nvPr/>
        </p:nvSpPr>
        <p:spPr>
          <a:xfrm>
            <a:off x="-1" y="1428306"/>
            <a:ext cx="20786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844DB-DA99-3C31-AC82-30973B42665B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ED87A-0C5A-5D0B-0B0E-E386884C6CB1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05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0F44F-E504-405B-93CB-834D156B78D7}"/>
              </a:ext>
            </a:extLst>
          </p:cNvPr>
          <p:cNvSpPr txBox="1"/>
          <p:nvPr/>
        </p:nvSpPr>
        <p:spPr>
          <a:xfrm>
            <a:off x="6698513" y="-10121"/>
            <a:ext cx="5493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Verse : Dynamic video question answering through RAG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C0BAD7-7ADF-A37A-5B86-F22DB37E06E5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23164B-F628-1C6B-86C0-9D44A9406FB1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05</a:t>
            </a:r>
          </a:p>
        </p:txBody>
      </p:sp>
    </p:spTree>
    <p:extLst>
      <p:ext uri="{BB962C8B-B14F-4D97-AF65-F5344CB8AC3E}">
        <p14:creationId xmlns:p14="http://schemas.microsoft.com/office/powerpoint/2010/main" val="981271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BD3A2-4A8D-09B7-7A18-3B01CCEB3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0423" y="1470838"/>
            <a:ext cx="9307921" cy="479174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000" b="1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[2]Lewis, P. Perez, E. </a:t>
            </a:r>
            <a:r>
              <a:rPr lang="en-IN" sz="2000" b="1" i="0" dirty="0" err="1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Piktus</a:t>
            </a:r>
            <a:r>
              <a:rPr lang="en-IN" sz="2000" b="1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A. </a:t>
            </a:r>
            <a:r>
              <a:rPr lang="en-IN" sz="2000" b="1" i="0" dirty="0" err="1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Petroni</a:t>
            </a:r>
            <a:r>
              <a:rPr lang="en-IN" sz="2000" b="1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F. </a:t>
            </a:r>
            <a:r>
              <a:rPr lang="en-IN" sz="2000" b="1" i="0" dirty="0" err="1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Karpukhin</a:t>
            </a:r>
            <a:r>
              <a:rPr lang="en-IN" sz="2000" b="1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V. Goyal, N. </a:t>
            </a:r>
            <a:r>
              <a:rPr lang="en-IN" sz="2000" b="1" i="0" dirty="0" err="1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Küttler</a:t>
            </a:r>
            <a:r>
              <a:rPr lang="en-IN" sz="2000" b="1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H. Lewis, M. </a:t>
            </a:r>
            <a:r>
              <a:rPr lang="en-IN" sz="2000" b="1" i="0" dirty="0" err="1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Yih</a:t>
            </a:r>
            <a:r>
              <a:rPr lang="en-IN" sz="2000" b="1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W., T. </a:t>
            </a:r>
            <a:r>
              <a:rPr lang="en-IN" sz="2000" b="1" i="0" dirty="0" err="1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Rocktäschel</a:t>
            </a:r>
            <a:r>
              <a:rPr lang="en-IN" sz="2000" b="1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T. Riedel, S., &amp; </a:t>
            </a:r>
            <a:r>
              <a:rPr lang="en-IN" sz="2000" b="1" i="0" dirty="0" err="1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Kiela</a:t>
            </a:r>
            <a:r>
              <a:rPr lang="en-IN" sz="2000" b="1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D. (2020, May 22). Retrieval-Augmented Generation for Knowledge-Intensive NLP Tasks//arxiv:2005.11401</a:t>
            </a:r>
          </a:p>
          <a:p>
            <a:pPr marL="0" indent="0" algn="just">
              <a:buNone/>
            </a:pPr>
            <a:endParaRPr lang="en-IN" sz="2000" b="0" i="0" dirty="0">
              <a:solidFill>
                <a:srgbClr val="0F0E0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F0E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odel which combine pre-trained parametric and non-parametric memory for language generation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Open-domain Question Answering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F0E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Long-term memory for LLMs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A505FD-BA20-32A9-B175-F6FC067AB550}"/>
              </a:ext>
            </a:extLst>
          </p:cNvPr>
          <p:cNvSpPr txBox="1"/>
          <p:nvPr/>
        </p:nvSpPr>
        <p:spPr>
          <a:xfrm>
            <a:off x="-30480" y="-10121"/>
            <a:ext cx="2109145" cy="6463308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dirty="0">
              <a:solidFill>
                <a:srgbClr val="2727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6D8421-4496-2B93-203D-A41F0D1516FC}"/>
              </a:ext>
            </a:extLst>
          </p:cNvPr>
          <p:cNvSpPr txBox="1"/>
          <p:nvPr/>
        </p:nvSpPr>
        <p:spPr>
          <a:xfrm>
            <a:off x="-1" y="1428306"/>
            <a:ext cx="20786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844DB-DA99-3C31-AC82-30973B42665B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ED87A-0C5A-5D0B-0B0E-E386884C6CB1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0F44F-E504-405B-93CB-834D156B78D7}"/>
              </a:ext>
            </a:extLst>
          </p:cNvPr>
          <p:cNvSpPr txBox="1"/>
          <p:nvPr/>
        </p:nvSpPr>
        <p:spPr>
          <a:xfrm>
            <a:off x="6741043" y="-10121"/>
            <a:ext cx="54509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Verse : Dynamic video question answering through RAG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CF7625-D8E7-BC95-C31C-38C9EE0824B3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8FAD0B-25E9-AE05-DDEC-74545637895E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06</a:t>
            </a:r>
          </a:p>
        </p:txBody>
      </p:sp>
    </p:spTree>
    <p:extLst>
      <p:ext uri="{BB962C8B-B14F-4D97-AF65-F5344CB8AC3E}">
        <p14:creationId xmlns:p14="http://schemas.microsoft.com/office/powerpoint/2010/main" val="281633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BD3A2-4A8D-09B7-7A18-3B01CCEB3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9473" y="1331138"/>
            <a:ext cx="9307921" cy="479174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000" b="1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[3]Jon Saad-Falcon, Joe Barrow, Alexa Siu, Ani </a:t>
            </a:r>
            <a:r>
              <a:rPr lang="en-IN" sz="2000" b="1" i="0" dirty="0" err="1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Nenkova</a:t>
            </a:r>
            <a:r>
              <a:rPr lang="en-IN" sz="2000" b="1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David </a:t>
            </a:r>
            <a:r>
              <a:rPr lang="en-IN" sz="2000" b="1" i="0" dirty="0" err="1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Seunghyun</a:t>
            </a:r>
            <a:r>
              <a:rPr lang="en-IN" sz="2000" b="1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Yoon, Ryan A. Rossi &amp; Franck </a:t>
            </a:r>
            <a:r>
              <a:rPr lang="en-IN" sz="2000" b="1" i="0" dirty="0" err="1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Dernoncourt</a:t>
            </a:r>
            <a:r>
              <a:rPr lang="en-IN" sz="2000" b="1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IN" sz="2000" b="1" i="0" dirty="0" err="1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PDFTriage</a:t>
            </a:r>
            <a:r>
              <a:rPr lang="en-IN" sz="2000" b="1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Question Answering over Long Structured Documents”, 2023//arXiv:2309.08872v2/</a:t>
            </a:r>
          </a:p>
          <a:p>
            <a:pPr marL="0" indent="0" algn="just">
              <a:buNone/>
            </a:pPr>
            <a:endParaRPr lang="en-IN" sz="2000" b="0" i="0" dirty="0">
              <a:solidFill>
                <a:srgbClr val="0F0E0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000" b="1" dirty="0">
                <a:solidFill>
                  <a:srgbClr val="0F0E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IN" sz="2000" b="1" i="0" dirty="0">
              <a:solidFill>
                <a:srgbClr val="0F0E0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dirty="0">
                <a:solidFill>
                  <a:srgbClr val="0F0E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ethod to improve LLM for question answering in structured documents</a:t>
            </a:r>
          </a:p>
          <a:p>
            <a:pPr lvl="1"/>
            <a:r>
              <a:rPr lang="en-IN" sz="2000" dirty="0">
                <a:solidFill>
                  <a:srgbClr val="0F0E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Introduced chaining method for answering over large context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Enhances context retrieval by considering document structure and content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0F0E0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rgbClr val="0F0E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</a:p>
          <a:p>
            <a:pPr lvl="1"/>
            <a:r>
              <a:rPr lang="en-IN" sz="2000" dirty="0">
                <a:solidFill>
                  <a:srgbClr val="0F0E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latency for answering</a:t>
            </a:r>
          </a:p>
          <a:p>
            <a:pPr lvl="1"/>
            <a:r>
              <a:rPr lang="en-IN" sz="2000" dirty="0">
                <a:solidFill>
                  <a:srgbClr val="0F0E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Heavy on computation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A505FD-BA20-32A9-B175-F6FC067AB550}"/>
              </a:ext>
            </a:extLst>
          </p:cNvPr>
          <p:cNvSpPr txBox="1"/>
          <p:nvPr/>
        </p:nvSpPr>
        <p:spPr>
          <a:xfrm>
            <a:off x="-30480" y="-10121"/>
            <a:ext cx="2109145" cy="6463308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dirty="0">
              <a:solidFill>
                <a:srgbClr val="2727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6D8421-4496-2B93-203D-A41F0D1516FC}"/>
              </a:ext>
            </a:extLst>
          </p:cNvPr>
          <p:cNvSpPr txBox="1"/>
          <p:nvPr/>
        </p:nvSpPr>
        <p:spPr>
          <a:xfrm>
            <a:off x="-1" y="1428306"/>
            <a:ext cx="20786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844DB-DA99-3C31-AC82-30973B42665B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ED87A-0C5A-5D0B-0B0E-E386884C6CB1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07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0F44F-E504-405B-93CB-834D156B78D7}"/>
              </a:ext>
            </a:extLst>
          </p:cNvPr>
          <p:cNvSpPr txBox="1"/>
          <p:nvPr/>
        </p:nvSpPr>
        <p:spPr>
          <a:xfrm>
            <a:off x="6719777" y="-10121"/>
            <a:ext cx="54722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Verse : Dynamic video question answering through RAG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270BBF-B7FE-0275-CE0A-F7624956A53C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D72D51-A3A6-B2DF-F429-CA924E686E28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07</a:t>
            </a:r>
          </a:p>
        </p:txBody>
      </p:sp>
    </p:spTree>
    <p:extLst>
      <p:ext uri="{BB962C8B-B14F-4D97-AF65-F5344CB8AC3E}">
        <p14:creationId xmlns:p14="http://schemas.microsoft.com/office/powerpoint/2010/main" val="2481712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BD3A2-4A8D-09B7-7A18-3B01CCEB3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0423" y="1331138"/>
            <a:ext cx="9307921" cy="479174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000" b="1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2000" b="1" dirty="0">
                <a:solidFill>
                  <a:srgbClr val="0F0E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2000" b="1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]Radford, A. (2022, December 6). “Robust Speech Recognition via Large-Scale Weak Supervision”//arxiv:2212.04356</a:t>
            </a:r>
          </a:p>
          <a:p>
            <a:pPr marL="0" indent="0" algn="just">
              <a:buNone/>
            </a:pPr>
            <a:endParaRPr lang="en-IN" sz="2000" b="0" i="0" dirty="0">
              <a:solidFill>
                <a:srgbClr val="0F0E0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000" b="1" dirty="0">
                <a:solidFill>
                  <a:srgbClr val="0F0E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IN" sz="2000" b="1" i="0" dirty="0">
              <a:solidFill>
                <a:srgbClr val="0F0E0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 well in zero-shot transfer settings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 and robustness of human performance</a:t>
            </a:r>
          </a:p>
          <a:p>
            <a:pPr lvl="1"/>
            <a:r>
              <a:rPr lang="en-IN" sz="2000" dirty="0">
                <a:solidFill>
                  <a:srgbClr val="0F0E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Attention mechanism</a:t>
            </a:r>
          </a:p>
          <a:p>
            <a:pPr marL="457200" lvl="1" indent="0">
              <a:buNone/>
            </a:pPr>
            <a:endParaRPr lang="en-IN" sz="2000" b="0" i="0" dirty="0">
              <a:solidFill>
                <a:srgbClr val="0F0E0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Disadvantages: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best performance in English only</a:t>
            </a:r>
          </a:p>
          <a:p>
            <a:pPr marL="457200" lvl="1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A505FD-BA20-32A9-B175-F6FC067AB550}"/>
              </a:ext>
            </a:extLst>
          </p:cNvPr>
          <p:cNvSpPr txBox="1"/>
          <p:nvPr/>
        </p:nvSpPr>
        <p:spPr>
          <a:xfrm>
            <a:off x="-30480" y="-10121"/>
            <a:ext cx="2109145" cy="6463308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dirty="0">
              <a:solidFill>
                <a:srgbClr val="2727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6D8421-4496-2B93-203D-A41F0D1516FC}"/>
              </a:ext>
            </a:extLst>
          </p:cNvPr>
          <p:cNvSpPr txBox="1"/>
          <p:nvPr/>
        </p:nvSpPr>
        <p:spPr>
          <a:xfrm>
            <a:off x="-1" y="1428306"/>
            <a:ext cx="20786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844DB-DA99-3C31-AC82-30973B42665B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ED87A-0C5A-5D0B-0B0E-E386884C6CB1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08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0F44F-E504-405B-93CB-834D156B78D7}"/>
              </a:ext>
            </a:extLst>
          </p:cNvPr>
          <p:cNvSpPr txBox="1"/>
          <p:nvPr/>
        </p:nvSpPr>
        <p:spPr>
          <a:xfrm>
            <a:off x="6698513" y="-10121"/>
            <a:ext cx="5493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Verse : Dynamic video question answering through RAG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2C9319-F7BD-1E46-3EF2-95418CD808C2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5B6E13-C1EC-2674-1DDD-546DA0A37C69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08</a:t>
            </a:r>
          </a:p>
        </p:txBody>
      </p:sp>
    </p:spTree>
    <p:extLst>
      <p:ext uri="{BB962C8B-B14F-4D97-AF65-F5344CB8AC3E}">
        <p14:creationId xmlns:p14="http://schemas.microsoft.com/office/powerpoint/2010/main" val="1033047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BD3A2-4A8D-09B7-7A18-3B01CCEB3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0423" y="1362888"/>
            <a:ext cx="9307921" cy="479174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000" b="1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[5] Yu. A. </a:t>
            </a:r>
            <a:r>
              <a:rPr lang="en-IN" sz="2000" b="1" i="0" dirty="0" err="1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Malkov</a:t>
            </a:r>
            <a:r>
              <a:rPr lang="en-IN" sz="2000" b="1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D. A. </a:t>
            </a:r>
            <a:r>
              <a:rPr lang="en-IN" sz="2000" b="1" i="0" dirty="0" err="1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Yashunin</a:t>
            </a:r>
            <a:r>
              <a:rPr lang="en-IN" sz="2000" b="1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(2016, March </a:t>
            </a:r>
            <a:r>
              <a:rPr lang="en-IN" sz="2000" b="1" dirty="0">
                <a:solidFill>
                  <a:srgbClr val="0F0E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en-IN" sz="2000" b="1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 “</a:t>
            </a:r>
            <a:r>
              <a:rPr lang="en-US" sz="2000" b="1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Efficient and robust approximate nearest neighbor search using Hierarchical Navigable Small World graphs</a:t>
            </a:r>
            <a:r>
              <a:rPr lang="en-IN" sz="2000" b="1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”//arxiv:1603.09320</a:t>
            </a:r>
          </a:p>
          <a:p>
            <a:pPr marL="0" indent="0" algn="just">
              <a:buNone/>
            </a:pPr>
            <a:endParaRPr lang="en-IN" sz="2000" b="0" i="0" dirty="0">
              <a:solidFill>
                <a:srgbClr val="0F0E0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000" b="1" dirty="0">
                <a:solidFill>
                  <a:srgbClr val="0F0E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IN" sz="2000" b="1" i="0" dirty="0">
              <a:solidFill>
                <a:srgbClr val="0F0E0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Approximate K-nearest neighbor search based on navigable small world graphs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solidFill>
                  <a:srgbClr val="0F0E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ully graph-based, without any need for additional search structures</a:t>
            </a:r>
          </a:p>
          <a:p>
            <a:pPr lvl="1"/>
            <a:r>
              <a:rPr lang="en-US" sz="2000" dirty="0">
                <a:solidFill>
                  <a:srgbClr val="0F0E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Highly scalable</a:t>
            </a:r>
            <a:endParaRPr lang="en-IN" sz="2000" b="0" i="0" dirty="0">
              <a:solidFill>
                <a:srgbClr val="0F0E0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solidFill>
                  <a:srgbClr val="0F0E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Outperform previous opensource state-of-the-art vector-only approaches.</a:t>
            </a:r>
            <a:endParaRPr lang="en-IN" sz="2000" dirty="0">
              <a:solidFill>
                <a:srgbClr val="0F0E0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A505FD-BA20-32A9-B175-F6FC067AB550}"/>
              </a:ext>
            </a:extLst>
          </p:cNvPr>
          <p:cNvSpPr txBox="1"/>
          <p:nvPr/>
        </p:nvSpPr>
        <p:spPr>
          <a:xfrm>
            <a:off x="-30480" y="-10121"/>
            <a:ext cx="2109145" cy="6463308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dirty="0">
              <a:solidFill>
                <a:srgbClr val="2727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6D8421-4496-2B93-203D-A41F0D1516FC}"/>
              </a:ext>
            </a:extLst>
          </p:cNvPr>
          <p:cNvSpPr txBox="1"/>
          <p:nvPr/>
        </p:nvSpPr>
        <p:spPr>
          <a:xfrm>
            <a:off x="-1" y="1428306"/>
            <a:ext cx="20786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844DB-DA99-3C31-AC82-30973B42665B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ED87A-0C5A-5D0B-0B0E-E386884C6CB1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08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0F44F-E504-405B-93CB-834D156B78D7}"/>
              </a:ext>
            </a:extLst>
          </p:cNvPr>
          <p:cNvSpPr txBox="1"/>
          <p:nvPr/>
        </p:nvSpPr>
        <p:spPr>
          <a:xfrm>
            <a:off x="6698513" y="-10121"/>
            <a:ext cx="5493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Verse : Dynamic video question answering through RAG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2C9319-F7BD-1E46-3EF2-95418CD808C2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5B6E13-C1EC-2674-1DDD-546DA0A37C69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09</a:t>
            </a:r>
          </a:p>
        </p:txBody>
      </p:sp>
    </p:spTree>
    <p:extLst>
      <p:ext uri="{BB962C8B-B14F-4D97-AF65-F5344CB8AC3E}">
        <p14:creationId xmlns:p14="http://schemas.microsoft.com/office/powerpoint/2010/main" val="3229721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0A505FD-BA20-32A9-B175-F6FC067AB550}"/>
              </a:ext>
            </a:extLst>
          </p:cNvPr>
          <p:cNvSpPr txBox="1"/>
          <p:nvPr/>
        </p:nvSpPr>
        <p:spPr>
          <a:xfrm>
            <a:off x="-30480" y="-10121"/>
            <a:ext cx="2109145" cy="6463308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dirty="0">
              <a:solidFill>
                <a:srgbClr val="2727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6D8421-4496-2B93-203D-A41F0D1516FC}"/>
              </a:ext>
            </a:extLst>
          </p:cNvPr>
          <p:cNvSpPr txBox="1"/>
          <p:nvPr/>
        </p:nvSpPr>
        <p:spPr>
          <a:xfrm>
            <a:off x="0" y="1903173"/>
            <a:ext cx="20786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844DB-DA99-3C31-AC82-30973B42665B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ED87A-0C5A-5D0B-0B0E-E386884C6CB1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09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8B7A824-03A1-8B17-CE52-39124FA11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9913" y="18458"/>
            <a:ext cx="7044302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304395-AD73-892B-2F75-3F5453173410}"/>
              </a:ext>
            </a:extLst>
          </p:cNvPr>
          <p:cNvSpPr txBox="1"/>
          <p:nvPr/>
        </p:nvSpPr>
        <p:spPr>
          <a:xfrm>
            <a:off x="4381655" y="6080535"/>
            <a:ext cx="61084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 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83762A-9C29-B5E7-14A3-327125744C6F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A1F470-58EE-4A60-B580-6A923929FBBD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10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CA59D65-D661-31D5-D56C-F14757CEE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078" y="57983"/>
            <a:ext cx="9410773" cy="6074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8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BD3A2-4A8D-09B7-7A18-3B01CCEB3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4288" y="760782"/>
            <a:ext cx="9728790" cy="565652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</a:p>
          <a:p>
            <a:pPr algn="just"/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types of data required for reliable generation</a:t>
            </a:r>
          </a:p>
          <a:p>
            <a:pPr marL="0" indent="0" algn="just">
              <a:buNone/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1. Metadata</a:t>
            </a:r>
          </a:p>
          <a:p>
            <a:pPr marL="0" indent="0" algn="just">
              <a:buNone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    Mining the required data from provided URL</a:t>
            </a:r>
          </a:p>
          <a:p>
            <a:pPr lvl="4" algn="just"/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</a:p>
          <a:p>
            <a:pPr lvl="4" algn="just"/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  <a:p>
            <a:pPr lvl="4" algn="just"/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Uploader</a:t>
            </a:r>
          </a:p>
          <a:p>
            <a:pPr lvl="4" algn="just"/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of upload, etc.	</a:t>
            </a:r>
            <a:endParaRPr lang="en-IN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2. Video Transcript</a:t>
            </a:r>
          </a:p>
          <a:p>
            <a:pPr marL="0" indent="0" algn="just">
              <a:buNone/>
            </a:pP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Prepared in two ways</a:t>
            </a:r>
          </a:p>
          <a:p>
            <a:pPr marL="0" indent="0" algn="just">
              <a:buNone/>
            </a:pPr>
            <a:r>
              <a:rPr lang="en-IN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Captions(if available)</a:t>
            </a:r>
          </a:p>
          <a:p>
            <a:pPr marL="0" indent="0" algn="just">
              <a:buNone/>
            </a:pP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b. Speech to text transformer</a:t>
            </a:r>
            <a:endParaRPr lang="en-IN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4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A505FD-BA20-32A9-B175-F6FC067AB550}"/>
              </a:ext>
            </a:extLst>
          </p:cNvPr>
          <p:cNvSpPr txBox="1"/>
          <p:nvPr/>
        </p:nvSpPr>
        <p:spPr>
          <a:xfrm>
            <a:off x="-30480" y="-16471"/>
            <a:ext cx="2109146" cy="6463308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dirty="0">
              <a:solidFill>
                <a:srgbClr val="2727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6D8421-4496-2B93-203D-A41F0D1516FC}"/>
              </a:ext>
            </a:extLst>
          </p:cNvPr>
          <p:cNvSpPr txBox="1"/>
          <p:nvPr/>
        </p:nvSpPr>
        <p:spPr>
          <a:xfrm>
            <a:off x="0" y="2466699"/>
            <a:ext cx="20786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844DB-DA99-3C31-AC82-30973B42665B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ED87A-0C5A-5D0B-0B0E-E386884C6CB1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0F44F-E504-405B-93CB-834D156B78D7}"/>
              </a:ext>
            </a:extLst>
          </p:cNvPr>
          <p:cNvSpPr txBox="1"/>
          <p:nvPr/>
        </p:nvSpPr>
        <p:spPr>
          <a:xfrm>
            <a:off x="6741043" y="-10121"/>
            <a:ext cx="54509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Verse : Dynamic video question answering through RAG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15C4C-6528-1D42-9A1E-4B67D3DD58C9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1D7F33-D90E-03C9-ADE7-02B62AA9C7B3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11</a:t>
            </a:r>
          </a:p>
        </p:txBody>
      </p:sp>
    </p:spTree>
    <p:extLst>
      <p:ext uri="{BB962C8B-B14F-4D97-AF65-F5344CB8AC3E}">
        <p14:creationId xmlns:p14="http://schemas.microsoft.com/office/powerpoint/2010/main" val="2190572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0A505FD-BA20-32A9-B175-F6FC067AB550}"/>
              </a:ext>
            </a:extLst>
          </p:cNvPr>
          <p:cNvSpPr txBox="1"/>
          <p:nvPr/>
        </p:nvSpPr>
        <p:spPr>
          <a:xfrm>
            <a:off x="-30480" y="-16471"/>
            <a:ext cx="2109146" cy="6463308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dirty="0">
              <a:solidFill>
                <a:srgbClr val="2727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6D8421-4496-2B93-203D-A41F0D1516FC}"/>
              </a:ext>
            </a:extLst>
          </p:cNvPr>
          <p:cNvSpPr txBox="1"/>
          <p:nvPr/>
        </p:nvSpPr>
        <p:spPr>
          <a:xfrm>
            <a:off x="0" y="2466699"/>
            <a:ext cx="20786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844DB-DA99-3C31-AC82-30973B42665B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ED87A-0C5A-5D0B-0B0E-E386884C6CB1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0F44F-E504-405B-93CB-834D156B78D7}"/>
              </a:ext>
            </a:extLst>
          </p:cNvPr>
          <p:cNvSpPr txBox="1"/>
          <p:nvPr/>
        </p:nvSpPr>
        <p:spPr>
          <a:xfrm>
            <a:off x="6741043" y="-10121"/>
            <a:ext cx="54509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Verse : Dynamic video question answering through RAG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15C4C-6528-1D42-9A1E-4B67D3DD58C9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1D7F33-D90E-03C9-ADE7-02B62AA9C7B3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12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CEBF35C-F31F-0BBE-0B84-C11F1ED3C828}"/>
              </a:ext>
            </a:extLst>
          </p:cNvPr>
          <p:cNvSpPr txBox="1">
            <a:spLocks/>
          </p:cNvSpPr>
          <p:nvPr/>
        </p:nvSpPr>
        <p:spPr>
          <a:xfrm>
            <a:off x="2590800" y="1136650"/>
            <a:ext cx="9370828" cy="51152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Speech to text transformer 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IN" sz="2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: whisper-small-244M</a:t>
            </a:r>
          </a:p>
          <a:p>
            <a:pPr lvl="1" algn="just"/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 based model</a:t>
            </a:r>
          </a:p>
          <a:p>
            <a:pPr lvl="1" algn="just"/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Self-Attention mechanism </a:t>
            </a:r>
          </a:p>
          <a:p>
            <a:pPr lvl="1" algn="just"/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IN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en-IN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D18EEC-B8E6-CF46-8A70-46DF46F4D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2136" y="2190215"/>
            <a:ext cx="1496123" cy="1183546"/>
          </a:xfrm>
          <a:prstGeom prst="rect">
            <a:avLst/>
          </a:prstGeom>
          <a:effectLst>
            <a:reflection stA="98000" endPos="0" dist="50800" dir="5400000" sy="-100000" algn="bl" rotWithShape="0"/>
            <a:softEdge rad="25400"/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46C5801-3A82-D834-7DC0-C5E439F05C66}"/>
              </a:ext>
            </a:extLst>
          </p:cNvPr>
          <p:cNvSpPr txBox="1"/>
          <p:nvPr/>
        </p:nvSpPr>
        <p:spPr>
          <a:xfrm>
            <a:off x="9080500" y="3349109"/>
            <a:ext cx="18256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 </a:t>
            </a:r>
            <a:r>
              <a:rPr lang="en-IN" sz="1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771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0A505FD-BA20-32A9-B175-F6FC067AB550}"/>
              </a:ext>
            </a:extLst>
          </p:cNvPr>
          <p:cNvSpPr txBox="1"/>
          <p:nvPr/>
        </p:nvSpPr>
        <p:spPr>
          <a:xfrm>
            <a:off x="-30480" y="-16471"/>
            <a:ext cx="2109146" cy="6463308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dirty="0">
              <a:solidFill>
                <a:srgbClr val="2727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6D8421-4496-2B93-203D-A41F0D1516FC}"/>
              </a:ext>
            </a:extLst>
          </p:cNvPr>
          <p:cNvSpPr txBox="1"/>
          <p:nvPr/>
        </p:nvSpPr>
        <p:spPr>
          <a:xfrm>
            <a:off x="0" y="2466699"/>
            <a:ext cx="20786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844DB-DA99-3C31-AC82-30973B42665B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ED87A-0C5A-5D0B-0B0E-E386884C6CB1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0F44F-E504-405B-93CB-834D156B78D7}"/>
              </a:ext>
            </a:extLst>
          </p:cNvPr>
          <p:cNvSpPr txBox="1"/>
          <p:nvPr/>
        </p:nvSpPr>
        <p:spPr>
          <a:xfrm>
            <a:off x="6741043" y="-10121"/>
            <a:ext cx="54509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Verse : Dynamic video question answering through RAG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15C4C-6528-1D42-9A1E-4B67D3DD58C9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1D7F33-D90E-03C9-ADE7-02B62AA9C7B3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13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AC8C04-C850-163D-A4BE-1B91B4EFB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350" y="690168"/>
            <a:ext cx="6445250" cy="51468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06A0469-E7BC-7079-9451-3CF51C071450}"/>
              </a:ext>
            </a:extLst>
          </p:cNvPr>
          <p:cNvSpPr txBox="1"/>
          <p:nvPr/>
        </p:nvSpPr>
        <p:spPr>
          <a:xfrm>
            <a:off x="3686841" y="5970487"/>
            <a:ext cx="61084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 2 : Whisper Architecture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9704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0A505FD-BA20-32A9-B175-F6FC067AB550}"/>
              </a:ext>
            </a:extLst>
          </p:cNvPr>
          <p:cNvSpPr txBox="1"/>
          <p:nvPr/>
        </p:nvSpPr>
        <p:spPr>
          <a:xfrm>
            <a:off x="-30480" y="-16471"/>
            <a:ext cx="2109146" cy="6463308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dirty="0">
              <a:solidFill>
                <a:srgbClr val="2727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6D8421-4496-2B93-203D-A41F0D1516FC}"/>
              </a:ext>
            </a:extLst>
          </p:cNvPr>
          <p:cNvSpPr txBox="1"/>
          <p:nvPr/>
        </p:nvSpPr>
        <p:spPr>
          <a:xfrm>
            <a:off x="0" y="2466699"/>
            <a:ext cx="20786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844DB-DA99-3C31-AC82-30973B42665B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ED87A-0C5A-5D0B-0B0E-E386884C6CB1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0F44F-E504-405B-93CB-834D156B78D7}"/>
              </a:ext>
            </a:extLst>
          </p:cNvPr>
          <p:cNvSpPr txBox="1"/>
          <p:nvPr/>
        </p:nvSpPr>
        <p:spPr>
          <a:xfrm>
            <a:off x="6741043" y="-10121"/>
            <a:ext cx="54509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Verse : Dynamic video question answering through RAG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15C4C-6528-1D42-9A1E-4B67D3DD58C9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1D7F33-D90E-03C9-ADE7-02B62AA9C7B3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14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22D21-E1FE-561D-C4AD-9351D2D05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0" y="1136650"/>
            <a:ext cx="9370828" cy="511529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(</a:t>
            </a:r>
            <a:r>
              <a:rPr lang="en-IN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</a:t>
            </a: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</a:p>
          <a:p>
            <a:pPr marL="0" indent="0" algn="just">
              <a:buNone/>
            </a:pPr>
            <a:endParaRPr lang="en-IN" sz="2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Chunking</a:t>
            </a:r>
          </a:p>
          <a:p>
            <a:pPr lvl="1" algn="just"/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eed for chunking</a:t>
            </a:r>
            <a:endParaRPr lang="en-IN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ecursive character text splitter</a:t>
            </a:r>
            <a:endParaRPr lang="en-IN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verlapping chunks </a:t>
            </a:r>
          </a:p>
          <a:p>
            <a:pPr marL="457200" lvl="1" indent="0" algn="just">
              <a:buNone/>
            </a:pPr>
            <a:endParaRPr lang="en-IN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</a:p>
          <a:p>
            <a:pPr lvl="1" algn="just"/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for embedding</a:t>
            </a:r>
          </a:p>
          <a:p>
            <a:pPr lvl="1" algn="just"/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Preserve semantic meaning</a:t>
            </a:r>
          </a:p>
          <a:p>
            <a:pPr lvl="1" algn="just"/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mbedding scheme : voyage-larger-2</a:t>
            </a:r>
            <a:endParaRPr lang="en-IN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229045-932B-CB8C-37BA-36F452699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3566" y="2455700"/>
            <a:ext cx="802752" cy="973300"/>
          </a:xfrm>
          <a:prstGeom prst="rect">
            <a:avLst/>
          </a:prstGeom>
          <a:effectLst>
            <a:softEdge rad="254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9C62D7-1713-DB75-2428-A2E06AEFDB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4154" y="4510289"/>
            <a:ext cx="562164" cy="660365"/>
          </a:xfrm>
          <a:prstGeom prst="rect">
            <a:avLst/>
          </a:prstGeom>
          <a:effectLst>
            <a:softEdge rad="25400"/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FE36F1E-B25F-643F-4345-B87EB383B1D0}"/>
              </a:ext>
            </a:extLst>
          </p:cNvPr>
          <p:cNvSpPr txBox="1"/>
          <p:nvPr/>
        </p:nvSpPr>
        <p:spPr>
          <a:xfrm>
            <a:off x="9328150" y="3393559"/>
            <a:ext cx="18256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 </a:t>
            </a:r>
            <a:r>
              <a:rPr lang="en-IN" sz="1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963B07-29CF-EDDE-6EF0-80F490ADDF87}"/>
              </a:ext>
            </a:extLst>
          </p:cNvPr>
          <p:cNvSpPr txBox="1"/>
          <p:nvPr/>
        </p:nvSpPr>
        <p:spPr>
          <a:xfrm>
            <a:off x="9359900" y="5114409"/>
            <a:ext cx="18256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 </a:t>
            </a:r>
            <a:r>
              <a:rPr lang="en-IN" sz="1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3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0A505FD-BA20-32A9-B175-F6FC067AB550}"/>
              </a:ext>
            </a:extLst>
          </p:cNvPr>
          <p:cNvSpPr txBox="1"/>
          <p:nvPr/>
        </p:nvSpPr>
        <p:spPr>
          <a:xfrm>
            <a:off x="-30480" y="-10121"/>
            <a:ext cx="2109145" cy="6463308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dirty="0">
              <a:solidFill>
                <a:srgbClr val="2727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6D8421-4496-2B93-203D-A41F0D1516FC}"/>
              </a:ext>
            </a:extLst>
          </p:cNvPr>
          <p:cNvSpPr txBox="1"/>
          <p:nvPr/>
        </p:nvSpPr>
        <p:spPr>
          <a:xfrm>
            <a:off x="0" y="2466698"/>
            <a:ext cx="20786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844DB-DA99-3C31-AC82-30973B42665B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ED87A-0C5A-5D0B-0B0E-E386884C6CB1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0F44F-E504-405B-93CB-834D156B78D7}"/>
              </a:ext>
            </a:extLst>
          </p:cNvPr>
          <p:cNvSpPr txBox="1"/>
          <p:nvPr/>
        </p:nvSpPr>
        <p:spPr>
          <a:xfrm>
            <a:off x="6741043" y="-10121"/>
            <a:ext cx="54509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Verse : Dynamic video question answering through RAG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8B7A824-03A1-8B17-CE52-39124FA11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2040" y="1137641"/>
            <a:ext cx="8527312" cy="801685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IN" sz="25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Chunking and </a:t>
            </a:r>
            <a:r>
              <a:rPr lang="en-IN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r>
              <a:rPr lang="en-IN" sz="25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38B8F-1620-73CA-014C-DFFD98E126C8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116971-5AA3-076E-77C6-DE6F2672A549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51574F-B858-190B-0416-3933D6FC50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60" t="4036" r="1679" b="14798"/>
          <a:stretch/>
        </p:blipFill>
        <p:spPr>
          <a:xfrm>
            <a:off x="2528455" y="2119745"/>
            <a:ext cx="9192490" cy="31274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AA8848-962F-D13C-2BCA-A34BD22A3AB7}"/>
              </a:ext>
            </a:extLst>
          </p:cNvPr>
          <p:cNvSpPr txBox="1"/>
          <p:nvPr/>
        </p:nvSpPr>
        <p:spPr>
          <a:xfrm>
            <a:off x="4282263" y="5429896"/>
            <a:ext cx="61084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 4 : Pre-Processing the text data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83E64A-A372-76C1-89CE-4201BFE26DC1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584460-F159-0FA4-2C35-6EDDE7412CCA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15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03AA505-BEB9-FB83-A8B3-3B1246E30831}"/>
              </a:ext>
            </a:extLst>
          </p:cNvPr>
          <p:cNvGrpSpPr/>
          <p:nvPr/>
        </p:nvGrpSpPr>
        <p:grpSpPr>
          <a:xfrm>
            <a:off x="3646309" y="3211985"/>
            <a:ext cx="315720" cy="281160"/>
            <a:chOff x="3646309" y="3211985"/>
            <a:chExt cx="315720" cy="2811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5D182D4-1446-82D1-A1F5-B66AA81AF8CD}"/>
                    </a:ext>
                  </a:extLst>
                </p14:cNvPr>
                <p14:cNvContentPartPr/>
                <p14:nvPr/>
              </p14:nvContentPartPr>
              <p14:xfrm>
                <a:off x="3646309" y="3211985"/>
                <a:ext cx="315720" cy="185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5D182D4-1446-82D1-A1F5-B66AA81AF8C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628309" y="3103985"/>
                  <a:ext cx="35136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617ACF1-196C-35F6-C37A-67A3BD72FDF6}"/>
                    </a:ext>
                  </a:extLst>
                </p14:cNvPr>
                <p14:cNvContentPartPr/>
                <p14:nvPr/>
              </p14:nvContentPartPr>
              <p14:xfrm>
                <a:off x="3648109" y="3285065"/>
                <a:ext cx="286560" cy="208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617ACF1-196C-35F6-C37A-67A3BD72FDF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630469" y="3177425"/>
                  <a:ext cx="322200" cy="4237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5F42C877-83ED-5A1B-1878-0687F2050570}"/>
              </a:ext>
            </a:extLst>
          </p:cNvPr>
          <p:cNvSpPr/>
          <p:nvPr/>
        </p:nvSpPr>
        <p:spPr>
          <a:xfrm>
            <a:off x="3095766" y="3207325"/>
            <a:ext cx="1469307" cy="6303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Raw data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(text corpus)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2022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0A505FD-BA20-32A9-B175-F6FC067AB550}"/>
              </a:ext>
            </a:extLst>
          </p:cNvPr>
          <p:cNvSpPr txBox="1"/>
          <p:nvPr/>
        </p:nvSpPr>
        <p:spPr>
          <a:xfrm>
            <a:off x="-30480" y="-10121"/>
            <a:ext cx="2109145" cy="6463308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dirty="0">
              <a:solidFill>
                <a:srgbClr val="2727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6D8421-4496-2B93-203D-A41F0D1516FC}"/>
              </a:ext>
            </a:extLst>
          </p:cNvPr>
          <p:cNvSpPr txBox="1"/>
          <p:nvPr/>
        </p:nvSpPr>
        <p:spPr>
          <a:xfrm>
            <a:off x="0" y="2466698"/>
            <a:ext cx="20786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844DB-DA99-3C31-AC82-30973B42665B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ED87A-0C5A-5D0B-0B0E-E386884C6CB1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16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0F44F-E504-405B-93CB-834D156B78D7}"/>
              </a:ext>
            </a:extLst>
          </p:cNvPr>
          <p:cNvSpPr txBox="1"/>
          <p:nvPr/>
        </p:nvSpPr>
        <p:spPr>
          <a:xfrm>
            <a:off x="6772941" y="-10121"/>
            <a:ext cx="54190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Verse : Dynamic video question answering through RAG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8B7A824-03A1-8B17-CE52-39124FA11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5489" y="625612"/>
            <a:ext cx="9239692" cy="1325563"/>
          </a:xfrm>
        </p:spPr>
        <p:txBody>
          <a:bodyPr>
            <a:norm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vectors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snippets in a VectorDB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38B8F-1620-73CA-014C-DFFD98E126C8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116971-5AA3-076E-77C6-DE6F2672A549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AA8848-962F-D13C-2BCA-A34BD22A3AB7}"/>
              </a:ext>
            </a:extLst>
          </p:cNvPr>
          <p:cNvSpPr txBox="1"/>
          <p:nvPr/>
        </p:nvSpPr>
        <p:spPr>
          <a:xfrm>
            <a:off x="4282263" y="5941548"/>
            <a:ext cx="61084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 5 : Store 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embedded 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vectors in VectorDB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7AFE514-CEB1-6FEA-FB8F-14BE34D6C4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54" t="5974" r="9864" b="4962"/>
          <a:stretch/>
        </p:blipFill>
        <p:spPr>
          <a:xfrm>
            <a:off x="2501552" y="1667386"/>
            <a:ext cx="9337158" cy="41351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1DE482A-C284-9D41-FD5C-91BC26BC2F62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909359-C842-8A68-2068-1BE19AD84C99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16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473593-1988-C7C1-A05A-A8D0FB7F9B4E}"/>
              </a:ext>
            </a:extLst>
          </p:cNvPr>
          <p:cNvSpPr/>
          <p:nvPr/>
        </p:nvSpPr>
        <p:spPr>
          <a:xfrm>
            <a:off x="9421091" y="3990109"/>
            <a:ext cx="1655618" cy="46412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0F20B2-61AF-B608-AC09-103C4106C78B}"/>
              </a:ext>
            </a:extLst>
          </p:cNvPr>
          <p:cNvSpPr txBox="1"/>
          <p:nvPr/>
        </p:nvSpPr>
        <p:spPr>
          <a:xfrm>
            <a:off x="9677397" y="3678384"/>
            <a:ext cx="10581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Vector</a:t>
            </a:r>
          </a:p>
          <a:p>
            <a:pPr algn="ctr"/>
            <a:r>
              <a:rPr lang="en-US" dirty="0"/>
              <a:t>Database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2467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BD3A2-4A8D-09B7-7A18-3B01CCEB3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2326" y="1041991"/>
            <a:ext cx="9569301" cy="4859079"/>
          </a:xfrm>
        </p:spPr>
        <p:txBody>
          <a:bodyPr/>
          <a:lstStyle/>
          <a:p>
            <a:pPr marL="0" indent="0" algn="just">
              <a:buNone/>
            </a:pPr>
            <a: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IN" sz="25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Retrieval Augmented Generation </a:t>
            </a:r>
          </a:p>
          <a:p>
            <a:pPr marL="0" indent="0" algn="just">
              <a:buNone/>
            </a:pPr>
            <a:endParaRPr lang="en-IN" sz="14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query and embedding</a:t>
            </a:r>
          </a:p>
          <a:p>
            <a:pPr lvl="1" algn="just"/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Similarity search in Vector DB</a:t>
            </a:r>
          </a:p>
          <a:p>
            <a:pPr marL="0" indent="0" algn="just">
              <a:buNone/>
            </a:pPr>
            <a:endParaRPr lang="en-IN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3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A505FD-BA20-32A9-B175-F6FC067AB550}"/>
              </a:ext>
            </a:extLst>
          </p:cNvPr>
          <p:cNvSpPr txBox="1"/>
          <p:nvPr/>
        </p:nvSpPr>
        <p:spPr>
          <a:xfrm>
            <a:off x="-30480" y="-10121"/>
            <a:ext cx="2109145" cy="6463308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dirty="0">
              <a:solidFill>
                <a:srgbClr val="2727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6D8421-4496-2B93-203D-A41F0D1516FC}"/>
              </a:ext>
            </a:extLst>
          </p:cNvPr>
          <p:cNvSpPr txBox="1"/>
          <p:nvPr/>
        </p:nvSpPr>
        <p:spPr>
          <a:xfrm>
            <a:off x="0" y="2466697"/>
            <a:ext cx="20786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844DB-DA99-3C31-AC82-30973B42665B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ED87A-0C5A-5D0B-0B0E-E386884C6CB1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17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0F44F-E504-405B-93CB-834D156B78D7}"/>
              </a:ext>
            </a:extLst>
          </p:cNvPr>
          <p:cNvSpPr txBox="1"/>
          <p:nvPr/>
        </p:nvSpPr>
        <p:spPr>
          <a:xfrm>
            <a:off x="6560289" y="-10121"/>
            <a:ext cx="5631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Verse : Dynamic video question answering through RAG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544B7C-8428-32A5-43D9-60F7205194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78" t="28615" r="7507" b="24630"/>
          <a:stretch/>
        </p:blipFill>
        <p:spPr>
          <a:xfrm>
            <a:off x="2541181" y="3719944"/>
            <a:ext cx="9271590" cy="147257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BDD119-EFF6-341F-44B9-5A701463C440}"/>
              </a:ext>
            </a:extLst>
          </p:cNvPr>
          <p:cNvSpPr txBox="1"/>
          <p:nvPr/>
        </p:nvSpPr>
        <p:spPr>
          <a:xfrm>
            <a:off x="4282263" y="5013296"/>
            <a:ext cx="61084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 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Converting user query to an embedding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E4ED0F-E0EA-406A-5205-4D1CDF4D807F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A16A2D-F780-577B-5DF4-4A7C3D10E7D8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17</a:t>
            </a:r>
          </a:p>
        </p:txBody>
      </p:sp>
    </p:spTree>
    <p:extLst>
      <p:ext uri="{BB962C8B-B14F-4D97-AF65-F5344CB8AC3E}">
        <p14:creationId xmlns:p14="http://schemas.microsoft.com/office/powerpoint/2010/main" val="34171806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0A505FD-BA20-32A9-B175-F6FC067AB550}"/>
              </a:ext>
            </a:extLst>
          </p:cNvPr>
          <p:cNvSpPr txBox="1"/>
          <p:nvPr/>
        </p:nvSpPr>
        <p:spPr>
          <a:xfrm>
            <a:off x="-30480" y="-10121"/>
            <a:ext cx="2109145" cy="6463308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dirty="0">
              <a:solidFill>
                <a:srgbClr val="2727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6D8421-4496-2B93-203D-A41F0D1516FC}"/>
              </a:ext>
            </a:extLst>
          </p:cNvPr>
          <p:cNvSpPr txBox="1"/>
          <p:nvPr/>
        </p:nvSpPr>
        <p:spPr>
          <a:xfrm>
            <a:off x="0" y="2466698"/>
            <a:ext cx="20786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844DB-DA99-3C31-AC82-30973B42665B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ED87A-0C5A-5D0B-0B0E-E386884C6CB1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18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0F44F-E504-405B-93CB-834D156B78D7}"/>
              </a:ext>
            </a:extLst>
          </p:cNvPr>
          <p:cNvSpPr txBox="1"/>
          <p:nvPr/>
        </p:nvSpPr>
        <p:spPr>
          <a:xfrm>
            <a:off x="6730409" y="-10121"/>
            <a:ext cx="5461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Verse : Dynamic video question answering through RAG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8B7A824-03A1-8B17-CE52-39124FA11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1181" y="495221"/>
            <a:ext cx="9143999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5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Retrieval </a:t>
            </a:r>
            <a:r>
              <a:rPr lang="en-IN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Augmented</a:t>
            </a:r>
            <a:r>
              <a:rPr lang="en-IN" sz="25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Generation (Contd.)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38B8F-1620-73CA-014C-DFFD98E126C8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116971-5AA3-076E-77C6-DE6F2672A549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AA8848-962F-D13C-2BCA-A34BD22A3AB7}"/>
              </a:ext>
            </a:extLst>
          </p:cNvPr>
          <p:cNvSpPr txBox="1"/>
          <p:nvPr/>
        </p:nvSpPr>
        <p:spPr>
          <a:xfrm>
            <a:off x="4282263" y="5517532"/>
            <a:ext cx="61084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 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 Perform similarity search 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VBD and </a:t>
            </a:r>
            <a:b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retrieve relevant information 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41CAF73-6CB7-CA7A-0261-DB784A522D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65" t="13733" r="4484" b="12803"/>
          <a:stretch/>
        </p:blipFill>
        <p:spPr>
          <a:xfrm>
            <a:off x="2353965" y="1771909"/>
            <a:ext cx="9674409" cy="37446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B993F66-4464-8DB8-0306-05FAB4862AB1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4E411C-2B58-9088-05E4-9FA535C0A8B4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18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4BBDF8-B4C3-74DA-1A8F-BAF1DE43266D}"/>
              </a:ext>
            </a:extLst>
          </p:cNvPr>
          <p:cNvSpPr/>
          <p:nvPr/>
        </p:nvSpPr>
        <p:spPr>
          <a:xfrm>
            <a:off x="6483927" y="3816927"/>
            <a:ext cx="1163782" cy="4225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41D219-78D2-1769-7408-4B2A93CC9F95}"/>
              </a:ext>
            </a:extLst>
          </p:cNvPr>
          <p:cNvSpPr txBox="1"/>
          <p:nvPr/>
        </p:nvSpPr>
        <p:spPr>
          <a:xfrm>
            <a:off x="6540292" y="3489453"/>
            <a:ext cx="9593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Vector</a:t>
            </a:r>
            <a:br>
              <a:rPr lang="en-US" sz="1600" dirty="0"/>
            </a:br>
            <a:r>
              <a:rPr lang="en-US" sz="1600" dirty="0"/>
              <a:t>Database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865340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0A505FD-BA20-32A9-B175-F6FC067AB550}"/>
              </a:ext>
            </a:extLst>
          </p:cNvPr>
          <p:cNvSpPr txBox="1"/>
          <p:nvPr/>
        </p:nvSpPr>
        <p:spPr>
          <a:xfrm>
            <a:off x="-30480" y="-10121"/>
            <a:ext cx="2109146" cy="6463308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dirty="0">
              <a:solidFill>
                <a:srgbClr val="2727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6D8421-4496-2B93-203D-A41F0D1516FC}"/>
              </a:ext>
            </a:extLst>
          </p:cNvPr>
          <p:cNvSpPr txBox="1"/>
          <p:nvPr/>
        </p:nvSpPr>
        <p:spPr>
          <a:xfrm>
            <a:off x="0" y="2466698"/>
            <a:ext cx="20786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844DB-DA99-3C31-AC82-30973B42665B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ED87A-0C5A-5D0B-0B0E-E386884C6CB1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19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0F44F-E504-405B-93CB-834D156B78D7}"/>
              </a:ext>
            </a:extLst>
          </p:cNvPr>
          <p:cNvSpPr txBox="1"/>
          <p:nvPr/>
        </p:nvSpPr>
        <p:spPr>
          <a:xfrm>
            <a:off x="6751675" y="-10121"/>
            <a:ext cx="54403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Verse : Dynamic video question answering through RAG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38B8F-1620-73CA-014C-DFFD98E126C8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19BF0BB-EF3A-44B3-961B-81A5EC5E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7871" y="19692"/>
            <a:ext cx="9537407" cy="1325563"/>
          </a:xfrm>
        </p:spPr>
        <p:txBody>
          <a:bodyPr>
            <a:normAutofit/>
          </a:bodyPr>
          <a:lstStyle/>
          <a:p>
            <a:r>
              <a:rPr lang="en-IN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Retrieval Augmented Generation (Contd.)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E64A3C-65E6-0A50-A287-EC9C3B64B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8676" y="730251"/>
            <a:ext cx="9569301" cy="2761486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IN" sz="20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IN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to find the relevant chunks?</a:t>
            </a:r>
          </a:p>
          <a:p>
            <a:pPr lvl="1"/>
            <a:r>
              <a:rPr lang="en-IN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Similarity score calculation : Cosine similarity </a:t>
            </a:r>
          </a:p>
          <a:p>
            <a:pPr lvl="1"/>
            <a:endParaRPr lang="en-IN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IN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IN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Time complexity </a:t>
            </a:r>
            <a:b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O(N*D)</a:t>
            </a:r>
            <a:endParaRPr lang="en-IN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69D261-B352-BB3C-0AF5-704669D1C78A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6FAB0C-93CF-EF15-CEF6-B7196B2EEF8E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19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735CB60E-5E5A-04A8-85FC-27B2294912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0916" y="1669015"/>
            <a:ext cx="6108404" cy="1191208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1F9423C2-2CE6-2014-7ED5-F7217A4EC8BB}"/>
              </a:ext>
            </a:extLst>
          </p:cNvPr>
          <p:cNvGrpSpPr/>
          <p:nvPr/>
        </p:nvGrpSpPr>
        <p:grpSpPr>
          <a:xfrm>
            <a:off x="3751144" y="3123224"/>
            <a:ext cx="6001062" cy="3253494"/>
            <a:chOff x="4475168" y="3106077"/>
            <a:chExt cx="6001062" cy="325349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E7FF079-B3D3-6CB9-43DE-0F81E797EF13}"/>
                </a:ext>
              </a:extLst>
            </p:cNvPr>
            <p:cNvGrpSpPr/>
            <p:nvPr/>
          </p:nvGrpSpPr>
          <p:grpSpPr>
            <a:xfrm>
              <a:off x="4475168" y="3106077"/>
              <a:ext cx="4866399" cy="3253494"/>
              <a:chOff x="6233401" y="3057771"/>
              <a:chExt cx="4866399" cy="3253494"/>
            </a:xfrm>
          </p:grpSpPr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703F1824-0027-1A68-3C44-FB534D1E2CC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16" t="38662" r="39139" b="3336"/>
              <a:stretch/>
            </p:blipFill>
            <p:spPr>
              <a:xfrm>
                <a:off x="6233401" y="3365500"/>
                <a:ext cx="4866399" cy="2571772"/>
              </a:xfrm>
              <a:prstGeom prst="rect">
                <a:avLst/>
              </a:prstGeom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74B277D-622D-BA85-8329-1DA5B8546253}"/>
                  </a:ext>
                </a:extLst>
              </p:cNvPr>
              <p:cNvSpPr txBox="1"/>
              <p:nvPr/>
            </p:nvSpPr>
            <p:spPr>
              <a:xfrm>
                <a:off x="7825088" y="5941933"/>
                <a:ext cx="31921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800" b="0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Fig 8 : </a:t>
                </a:r>
                <a:r>
                  <a:rPr lang="en-IN" b="0" i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similarity </a:t>
                </a:r>
                <a:r>
                  <a:rPr lang="en-IN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search</a:t>
                </a:r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C933380-099D-0AE9-D9A8-1B1E1A051692}"/>
                  </a:ext>
                </a:extLst>
              </p:cNvPr>
              <p:cNvSpPr txBox="1"/>
              <p:nvPr/>
            </p:nvSpPr>
            <p:spPr>
              <a:xfrm>
                <a:off x="8459952" y="3057771"/>
                <a:ext cx="7729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vector</a:t>
                </a:r>
                <a:endParaRPr lang="en-IN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D3B7D0C-B4AA-3C03-7F1F-CE5DF0C921D8}"/>
                  </a:ext>
                </a:extLst>
              </p:cNvPr>
              <p:cNvSpPr txBox="1"/>
              <p:nvPr/>
            </p:nvSpPr>
            <p:spPr>
              <a:xfrm>
                <a:off x="9355026" y="3064121"/>
                <a:ext cx="113380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Sim. score</a:t>
                </a:r>
                <a:endParaRPr lang="en-IN" sz="1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AD154A4-1B36-B3AA-FA17-378EFDB6CED8}"/>
                </a:ext>
              </a:extLst>
            </p:cNvPr>
            <p:cNvSpPr txBox="1"/>
            <p:nvPr/>
          </p:nvSpPr>
          <p:spPr>
            <a:xfrm>
              <a:off x="9315432" y="4501749"/>
              <a:ext cx="11607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Keep Top-k</a:t>
              </a:r>
              <a:endParaRPr lang="en-IN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914578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0A505FD-BA20-32A9-B175-F6FC067AB550}"/>
              </a:ext>
            </a:extLst>
          </p:cNvPr>
          <p:cNvSpPr txBox="1"/>
          <p:nvPr/>
        </p:nvSpPr>
        <p:spPr>
          <a:xfrm>
            <a:off x="-30480" y="-10121"/>
            <a:ext cx="2109145" cy="6463308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dirty="0">
              <a:solidFill>
                <a:srgbClr val="2727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6D8421-4496-2B93-203D-A41F0D1516FC}"/>
              </a:ext>
            </a:extLst>
          </p:cNvPr>
          <p:cNvSpPr txBox="1"/>
          <p:nvPr/>
        </p:nvSpPr>
        <p:spPr>
          <a:xfrm>
            <a:off x="0" y="2466698"/>
            <a:ext cx="20786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844DB-DA99-3C31-AC82-30973B42665B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ED87A-0C5A-5D0B-0B0E-E386884C6CB1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19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0F44F-E504-405B-93CB-834D156B78D7}"/>
              </a:ext>
            </a:extLst>
          </p:cNvPr>
          <p:cNvSpPr txBox="1"/>
          <p:nvPr/>
        </p:nvSpPr>
        <p:spPr>
          <a:xfrm>
            <a:off x="6751675" y="-10121"/>
            <a:ext cx="54403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Verse : Dynamic video question answering through RAG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38B8F-1620-73CA-014C-DFFD98E126C8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19BF0BB-EF3A-44B3-961B-81A5EC5E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221" y="191142"/>
            <a:ext cx="9537407" cy="1325563"/>
          </a:xfrm>
        </p:spPr>
        <p:txBody>
          <a:bodyPr>
            <a:normAutofit/>
          </a:bodyPr>
          <a:lstStyle/>
          <a:p>
            <a:r>
              <a:rPr lang="en-IN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Retrieval Augmented Generation (Contd.)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E64A3C-65E6-0A50-A287-EC9C3B64B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1726" y="1212998"/>
            <a:ext cx="9569301" cy="26687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search : HNSW algorithm</a:t>
            </a:r>
            <a:endParaRPr lang="en-IN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69D261-B352-BB3C-0AF5-704669D1C78A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6FAB0C-93CF-EF15-CEF6-B7196B2EEF8E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CBF49F-2B3A-2607-EBDA-25C1345451DF}"/>
              </a:ext>
            </a:extLst>
          </p:cNvPr>
          <p:cNvSpPr txBox="1"/>
          <p:nvPr/>
        </p:nvSpPr>
        <p:spPr>
          <a:xfrm>
            <a:off x="3939363" y="5805887"/>
            <a:ext cx="61084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 8 : 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of NSW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D075D0-8B73-1B87-3812-A8E1EC9E3E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815" t="26058" r="598" b="8946"/>
          <a:stretch/>
        </p:blipFill>
        <p:spPr>
          <a:xfrm>
            <a:off x="2896044" y="1871550"/>
            <a:ext cx="7879906" cy="3968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303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0A505FD-BA20-32A9-B175-F6FC067AB550}"/>
              </a:ext>
            </a:extLst>
          </p:cNvPr>
          <p:cNvSpPr txBox="1"/>
          <p:nvPr/>
        </p:nvSpPr>
        <p:spPr>
          <a:xfrm>
            <a:off x="-30480" y="-10121"/>
            <a:ext cx="2109145" cy="6463308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dirty="0">
              <a:solidFill>
                <a:srgbClr val="2727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6D8421-4496-2B93-203D-A41F0D1516FC}"/>
              </a:ext>
            </a:extLst>
          </p:cNvPr>
          <p:cNvSpPr txBox="1"/>
          <p:nvPr/>
        </p:nvSpPr>
        <p:spPr>
          <a:xfrm>
            <a:off x="0" y="2466698"/>
            <a:ext cx="20786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844DB-DA99-3C31-AC82-30973B42665B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ED87A-0C5A-5D0B-0B0E-E386884C6CB1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19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0F44F-E504-405B-93CB-834D156B78D7}"/>
              </a:ext>
            </a:extLst>
          </p:cNvPr>
          <p:cNvSpPr txBox="1"/>
          <p:nvPr/>
        </p:nvSpPr>
        <p:spPr>
          <a:xfrm>
            <a:off x="6751675" y="-10121"/>
            <a:ext cx="54403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Verse : Dynamic video question answering through RAG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38B8F-1620-73CA-014C-DFFD98E126C8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19BF0BB-EF3A-44B3-961B-81A5EC5E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221" y="438792"/>
            <a:ext cx="9537407" cy="1325563"/>
          </a:xfrm>
        </p:spPr>
        <p:txBody>
          <a:bodyPr>
            <a:normAutofit/>
          </a:bodyPr>
          <a:lstStyle/>
          <a:p>
            <a:r>
              <a:rPr lang="en-IN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Retrieval Augmented Generation (Contd.)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E64A3C-65E6-0A50-A287-EC9C3B64B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1726" y="1492398"/>
            <a:ext cx="9569301" cy="26687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search : HNSW algorithm</a:t>
            </a:r>
          </a:p>
          <a:p>
            <a:pPr lvl="1"/>
            <a:r>
              <a:rPr lang="en-IN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 - Nearest Neighbour to query</a:t>
            </a:r>
          </a:p>
          <a:p>
            <a:pPr lvl="1"/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Skip-list</a:t>
            </a:r>
          </a:p>
          <a:p>
            <a:pPr lvl="1"/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– O(log(n))</a:t>
            </a:r>
          </a:p>
          <a:p>
            <a:pPr lvl="1"/>
            <a:endParaRPr lang="en-IN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69D261-B352-BB3C-0AF5-704669D1C78A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6FAB0C-93CF-EF15-CEF6-B7196B2EEF8E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20</a:t>
            </a:r>
          </a:p>
        </p:txBody>
      </p:sp>
      <p:pic>
        <p:nvPicPr>
          <p:cNvPr id="1026" name="Picture 2" descr="Hierarchical Navigable Small Worlds (HNSW) | Pinecone">
            <a:extLst>
              <a:ext uri="{FF2B5EF4-FFF2-40B4-BE49-F238E27FC236}">
                <a16:creationId xmlns:a16="http://schemas.microsoft.com/office/drawing/2014/main" id="{5B601F10-195B-6EEA-5AB4-8E4D65F5E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5727" y="3003550"/>
            <a:ext cx="5148425" cy="2895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ECBF49F-2B3A-2607-EBDA-25C1345451DF}"/>
              </a:ext>
            </a:extLst>
          </p:cNvPr>
          <p:cNvSpPr txBox="1"/>
          <p:nvPr/>
        </p:nvSpPr>
        <p:spPr>
          <a:xfrm>
            <a:off x="6117413" y="5990037"/>
            <a:ext cx="61084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 8 : 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of HSNW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318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0A505FD-BA20-32A9-B175-F6FC067AB550}"/>
              </a:ext>
            </a:extLst>
          </p:cNvPr>
          <p:cNvSpPr txBox="1"/>
          <p:nvPr/>
        </p:nvSpPr>
        <p:spPr>
          <a:xfrm>
            <a:off x="-30480" y="-10121"/>
            <a:ext cx="2109145" cy="6463308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dirty="0">
              <a:solidFill>
                <a:srgbClr val="2727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6D8421-4496-2B93-203D-A41F0D1516FC}"/>
              </a:ext>
            </a:extLst>
          </p:cNvPr>
          <p:cNvSpPr txBox="1"/>
          <p:nvPr/>
        </p:nvSpPr>
        <p:spPr>
          <a:xfrm>
            <a:off x="0" y="2466698"/>
            <a:ext cx="20786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844DB-DA99-3C31-AC82-30973B42665B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ED87A-0C5A-5D0B-0B0E-E386884C6CB1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20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0F44F-E504-405B-93CB-834D156B78D7}"/>
              </a:ext>
            </a:extLst>
          </p:cNvPr>
          <p:cNvSpPr txBox="1"/>
          <p:nvPr/>
        </p:nvSpPr>
        <p:spPr>
          <a:xfrm>
            <a:off x="6698513" y="-10121"/>
            <a:ext cx="5493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Verse : Dynamic video question answering through RAG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8B7A824-03A1-8B17-CE52-39124FA11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221" y="459611"/>
            <a:ext cx="9537407" cy="1083439"/>
          </a:xfrm>
        </p:spPr>
        <p:txBody>
          <a:bodyPr>
            <a:normAutofit/>
          </a:bodyPr>
          <a:lstStyle/>
          <a:p>
            <a:r>
              <a:rPr lang="en-IN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Retrieval Augmented Generation (Contd.)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38B8F-1620-73CA-014C-DFFD98E126C8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116971-5AA3-076E-77C6-DE6F2672A549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AA8848-962F-D13C-2BCA-A34BD22A3AB7}"/>
              </a:ext>
            </a:extLst>
          </p:cNvPr>
          <p:cNvSpPr txBox="1"/>
          <p:nvPr/>
        </p:nvSpPr>
        <p:spPr>
          <a:xfrm>
            <a:off x="4282263" y="5941548"/>
            <a:ext cx="61084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 9 : Ask LLM to answer query based on relevant documents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388E951-97B1-6EE9-D5D6-D1836983AD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69" t="6755" r="5659" b="9602"/>
          <a:stretch/>
        </p:blipFill>
        <p:spPr>
          <a:xfrm>
            <a:off x="2527299" y="1327151"/>
            <a:ext cx="9285475" cy="460700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2CD42B-6A66-6E08-1453-5C251988786C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214C3C-97C1-855C-7341-D76810D1C5D6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21</a:t>
            </a:r>
          </a:p>
        </p:txBody>
      </p:sp>
    </p:spTree>
    <p:extLst>
      <p:ext uri="{BB962C8B-B14F-4D97-AF65-F5344CB8AC3E}">
        <p14:creationId xmlns:p14="http://schemas.microsoft.com/office/powerpoint/2010/main" val="3956474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0A505FD-BA20-32A9-B175-F6FC067AB550}"/>
              </a:ext>
            </a:extLst>
          </p:cNvPr>
          <p:cNvSpPr txBox="1"/>
          <p:nvPr/>
        </p:nvSpPr>
        <p:spPr>
          <a:xfrm>
            <a:off x="-30480" y="-10121"/>
            <a:ext cx="2109145" cy="6463308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dirty="0">
              <a:solidFill>
                <a:srgbClr val="2727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6D8421-4496-2B93-203D-A41F0D1516FC}"/>
              </a:ext>
            </a:extLst>
          </p:cNvPr>
          <p:cNvSpPr txBox="1"/>
          <p:nvPr/>
        </p:nvSpPr>
        <p:spPr>
          <a:xfrm>
            <a:off x="0" y="2466698"/>
            <a:ext cx="20786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844DB-DA99-3C31-AC82-30973B42665B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ED87A-0C5A-5D0B-0B0E-E386884C6CB1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0F44F-E504-405B-93CB-834D156B78D7}"/>
              </a:ext>
            </a:extLst>
          </p:cNvPr>
          <p:cNvSpPr txBox="1"/>
          <p:nvPr/>
        </p:nvSpPr>
        <p:spPr>
          <a:xfrm>
            <a:off x="6730409" y="-10121"/>
            <a:ext cx="5461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Verse : Dynamic video question answering through RAG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38B8F-1620-73CA-014C-DFFD98E126C8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116971-5AA3-076E-77C6-DE6F2672A549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6BDBAEC-5A14-1613-1059-65EEC10EF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4221" y="459611"/>
            <a:ext cx="9537407" cy="1325563"/>
          </a:xfrm>
        </p:spPr>
        <p:txBody>
          <a:bodyPr>
            <a:normAutofit/>
          </a:bodyPr>
          <a:lstStyle/>
          <a:p>
            <a:r>
              <a:rPr lang="en-IN" sz="2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Retrieval Augmented Generation (Contd.)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E64A3C-65E6-0A50-A287-EC9C3B64B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54202" y="1945478"/>
            <a:ext cx="8923372" cy="2796362"/>
          </a:xfrm>
        </p:spPr>
        <p:txBody>
          <a:bodyPr>
            <a:normAutofit/>
          </a:bodyPr>
          <a:lstStyle/>
          <a:p>
            <a:pPr algn="just"/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 template</a:t>
            </a:r>
          </a:p>
          <a:p>
            <a:pPr lvl="1" algn="just"/>
            <a:r>
              <a:rPr lang="en-I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Query</a:t>
            </a:r>
          </a:p>
          <a:p>
            <a:pPr lvl="1" algn="just"/>
            <a:r>
              <a:rPr lang="en-I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of  answers</a:t>
            </a:r>
          </a:p>
          <a:p>
            <a:pPr lvl="1" algn="just"/>
            <a:r>
              <a:rPr lang="en-IN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prompt of Llama 2</a:t>
            </a:r>
          </a:p>
          <a:p>
            <a:pPr algn="just"/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 of generation</a:t>
            </a:r>
          </a:p>
          <a:p>
            <a:pPr algn="just"/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Reliability and accuracy</a:t>
            </a:r>
          </a:p>
          <a:p>
            <a:pPr marL="0" indent="0" algn="just">
              <a:buNone/>
            </a:pP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indent="0" algn="just">
              <a:buNone/>
            </a:pPr>
            <a:endParaRPr lang="en-IN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9F68B9-A451-7DCD-8736-7CD97BACAC83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B0CC1C-D7B7-BC22-26BA-49C7BF6101C7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22</a:t>
            </a:r>
          </a:p>
        </p:txBody>
      </p:sp>
    </p:spTree>
    <p:extLst>
      <p:ext uri="{BB962C8B-B14F-4D97-AF65-F5344CB8AC3E}">
        <p14:creationId xmlns:p14="http://schemas.microsoft.com/office/powerpoint/2010/main" val="10046217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0A505FD-BA20-32A9-B175-F6FC067AB550}"/>
              </a:ext>
            </a:extLst>
          </p:cNvPr>
          <p:cNvSpPr txBox="1"/>
          <p:nvPr/>
        </p:nvSpPr>
        <p:spPr>
          <a:xfrm>
            <a:off x="-30480" y="-10121"/>
            <a:ext cx="2109145" cy="6463308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dirty="0">
              <a:solidFill>
                <a:srgbClr val="2727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6D8421-4496-2B93-203D-A41F0D1516FC}"/>
              </a:ext>
            </a:extLst>
          </p:cNvPr>
          <p:cNvSpPr txBox="1"/>
          <p:nvPr/>
        </p:nvSpPr>
        <p:spPr>
          <a:xfrm>
            <a:off x="0" y="2999233"/>
            <a:ext cx="207866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844DB-DA99-3C31-AC82-30973B42665B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ED87A-0C5A-5D0B-0B0E-E386884C6CB1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22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0F44F-E504-405B-93CB-834D156B78D7}"/>
              </a:ext>
            </a:extLst>
          </p:cNvPr>
          <p:cNvSpPr txBox="1"/>
          <p:nvPr/>
        </p:nvSpPr>
        <p:spPr>
          <a:xfrm>
            <a:off x="6730409" y="-10121"/>
            <a:ext cx="5461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Verse : Dynamic video question answering through RAG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8B7A824-03A1-8B17-CE52-39124FA11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8891" y="291232"/>
            <a:ext cx="8803759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D9DF30E-5565-6535-AB9A-4946E902A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5500" y="1470838"/>
            <a:ext cx="8372844" cy="479174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python3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0" i="0" dirty="0" err="1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Framework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Whisper audio to text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0" i="0" dirty="0" err="1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pytube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FIASS Vector DB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LLM (open access model – Llama 2)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0" i="0" dirty="0" err="1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endParaRPr lang="en-US" sz="2000" b="0" i="0" dirty="0">
              <a:solidFill>
                <a:srgbClr val="0F0E0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0F0E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000" dirty="0">
                <a:solidFill>
                  <a:srgbClr val="0F0E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38B8F-1620-73CA-014C-DFFD98E126C8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116971-5AA3-076E-77C6-DE6F2672A549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AD6762-DE7C-16D1-7994-5CB19A0FDD61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4F4565-792D-7A48-5CEE-8478DF4082C9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23</a:t>
            </a:r>
          </a:p>
        </p:txBody>
      </p:sp>
    </p:spTree>
    <p:extLst>
      <p:ext uri="{BB962C8B-B14F-4D97-AF65-F5344CB8AC3E}">
        <p14:creationId xmlns:p14="http://schemas.microsoft.com/office/powerpoint/2010/main" val="10033370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0A505FD-BA20-32A9-B175-F6FC067AB550}"/>
              </a:ext>
            </a:extLst>
          </p:cNvPr>
          <p:cNvSpPr txBox="1"/>
          <p:nvPr/>
        </p:nvSpPr>
        <p:spPr>
          <a:xfrm>
            <a:off x="-30480" y="-10121"/>
            <a:ext cx="2109145" cy="6463308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dirty="0">
              <a:solidFill>
                <a:srgbClr val="2727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844DB-DA99-3C31-AC82-30973B42665B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ED87A-0C5A-5D0B-0B0E-E386884C6CB1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23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0F44F-E504-405B-93CB-834D156B78D7}"/>
              </a:ext>
            </a:extLst>
          </p:cNvPr>
          <p:cNvSpPr txBox="1"/>
          <p:nvPr/>
        </p:nvSpPr>
        <p:spPr>
          <a:xfrm>
            <a:off x="6687879" y="-10121"/>
            <a:ext cx="5504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Verse : Dynamic video question answering through RAG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38B8F-1620-73CA-014C-DFFD98E126C8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116971-5AA3-076E-77C6-DE6F2672A549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E64A3C-65E6-0A50-A287-EC9C3B64B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3999" y="1413159"/>
            <a:ext cx="9569301" cy="504530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the performance of Audio to Text Conversion throughput by 6x</a:t>
            </a:r>
          </a:p>
          <a:p>
            <a:pPr lvl="1" algn="just"/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Implemented transformer bases SST</a:t>
            </a:r>
            <a:endParaRPr lang="en-IN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Old TTS engine took 6 minutes </a:t>
            </a:r>
            <a:endParaRPr lang="en-IN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ame task, new optimized method took only 53 seconds </a:t>
            </a:r>
          </a:p>
          <a:p>
            <a:pPr marL="0" indent="0" algn="just">
              <a:buNone/>
            </a:pPr>
            <a:endParaRPr lang="en-IN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Caption-scraping to improve the context fetching time</a:t>
            </a:r>
          </a:p>
          <a:p>
            <a:pPr lvl="1"/>
            <a:r>
              <a:rPr lang="en-IN" sz="20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videos contain captions provided by the Creator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such cases we can directly fetch the context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Thereby omitting the intensive 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STT</a:t>
            </a:r>
            <a:r>
              <a:rPr lang="en-IN" sz="20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process</a:t>
            </a: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C48794-66C9-4CE0-9569-87E6AFFA2A71}"/>
              </a:ext>
            </a:extLst>
          </p:cNvPr>
          <p:cNvSpPr txBox="1"/>
          <p:nvPr/>
        </p:nvSpPr>
        <p:spPr>
          <a:xfrm>
            <a:off x="0" y="3001726"/>
            <a:ext cx="207866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8FE5BA-975B-71E0-8881-61C976893043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FD2742-762B-35F7-0109-D85B7504685B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24</a:t>
            </a:r>
          </a:p>
        </p:txBody>
      </p:sp>
    </p:spTree>
    <p:extLst>
      <p:ext uri="{BB962C8B-B14F-4D97-AF65-F5344CB8AC3E}">
        <p14:creationId xmlns:p14="http://schemas.microsoft.com/office/powerpoint/2010/main" val="31975627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0A505FD-BA20-32A9-B175-F6FC067AB550}"/>
              </a:ext>
            </a:extLst>
          </p:cNvPr>
          <p:cNvSpPr txBox="1"/>
          <p:nvPr/>
        </p:nvSpPr>
        <p:spPr>
          <a:xfrm>
            <a:off x="-30480" y="-10121"/>
            <a:ext cx="2109145" cy="6463308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dirty="0">
              <a:solidFill>
                <a:srgbClr val="2727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844DB-DA99-3C31-AC82-30973B42665B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ED87A-0C5A-5D0B-0B0E-E386884C6CB1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23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0F44F-E504-405B-93CB-834D156B78D7}"/>
              </a:ext>
            </a:extLst>
          </p:cNvPr>
          <p:cNvSpPr txBox="1"/>
          <p:nvPr/>
        </p:nvSpPr>
        <p:spPr>
          <a:xfrm>
            <a:off x="6687879" y="-10121"/>
            <a:ext cx="5504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Verse : Dynamic video question answering through RAG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38B8F-1620-73CA-014C-DFFD98E126C8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116971-5AA3-076E-77C6-DE6F2672A549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E64A3C-65E6-0A50-A287-EC9C3B64B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8131" y="1443759"/>
            <a:ext cx="9569301" cy="50314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HNSW vs other algorithm to find nearest </a:t>
            </a:r>
            <a:r>
              <a:rPr lang="en-IN" sz="20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neigbour</a:t>
            </a:r>
            <a:endParaRPr lang="en-IN" sz="2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KNN – O(</a:t>
            </a:r>
            <a:r>
              <a:rPr lang="en-IN" sz="20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NSW - O(logᵏ(n))</a:t>
            </a:r>
          </a:p>
          <a:p>
            <a:pPr lvl="1"/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HNSW – O(log(n))</a:t>
            </a:r>
          </a:p>
          <a:p>
            <a:pPr lvl="1"/>
            <a:endParaRPr lang="en-IN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Significantly reduced the computation with scale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C48794-66C9-4CE0-9569-87E6AFFA2A71}"/>
              </a:ext>
            </a:extLst>
          </p:cNvPr>
          <p:cNvSpPr txBox="1"/>
          <p:nvPr/>
        </p:nvSpPr>
        <p:spPr>
          <a:xfrm>
            <a:off x="0" y="3001726"/>
            <a:ext cx="207866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8FE5BA-975B-71E0-8881-61C976893043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FD2742-762B-35F7-0109-D85B7504685B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25</a:t>
            </a:r>
          </a:p>
        </p:txBody>
      </p:sp>
    </p:spTree>
    <p:extLst>
      <p:ext uri="{BB962C8B-B14F-4D97-AF65-F5344CB8AC3E}">
        <p14:creationId xmlns:p14="http://schemas.microsoft.com/office/powerpoint/2010/main" val="24693694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0A505FD-BA20-32A9-B175-F6FC067AB550}"/>
              </a:ext>
            </a:extLst>
          </p:cNvPr>
          <p:cNvSpPr txBox="1"/>
          <p:nvPr/>
        </p:nvSpPr>
        <p:spPr>
          <a:xfrm>
            <a:off x="-30480" y="-10121"/>
            <a:ext cx="2109145" cy="6463308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dirty="0">
              <a:solidFill>
                <a:srgbClr val="2727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844DB-DA99-3C31-AC82-30973B42665B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ED87A-0C5A-5D0B-0B0E-E386884C6CB1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24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0F44F-E504-405B-93CB-834D156B78D7}"/>
              </a:ext>
            </a:extLst>
          </p:cNvPr>
          <p:cNvSpPr txBox="1"/>
          <p:nvPr/>
        </p:nvSpPr>
        <p:spPr>
          <a:xfrm>
            <a:off x="6730409" y="-10121"/>
            <a:ext cx="5461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Verse : Dynamic video question answering through RAG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38B8F-1620-73CA-014C-DFFD98E126C8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116971-5AA3-076E-77C6-DE6F2672A549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E64A3C-65E6-0A50-A287-EC9C3B64B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2326" y="850605"/>
            <a:ext cx="9569301" cy="540133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Verified Retrieval for Reliable Generation</a:t>
            </a:r>
          </a:p>
          <a:p>
            <a:pPr lvl="1"/>
            <a:r>
              <a:rPr lang="en-IN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LLM hallucination problem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relevant context -&gt; “I don’t know”</a:t>
            </a:r>
            <a:endParaRPr lang="en-IN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9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000" b="0" i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Context : V</a:t>
            </a:r>
            <a:r>
              <a:rPr lang="en-IN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ideo of Elon musk advise to young people.</a:t>
            </a:r>
            <a:endParaRPr lang="en-IN" sz="2000" b="0" i="0" dirty="0">
              <a:solidFill>
                <a:schemeClr val="accent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C48794-66C9-4CE0-9569-87E6AFFA2A71}"/>
              </a:ext>
            </a:extLst>
          </p:cNvPr>
          <p:cNvSpPr txBox="1"/>
          <p:nvPr/>
        </p:nvSpPr>
        <p:spPr>
          <a:xfrm>
            <a:off x="0" y="3006199"/>
            <a:ext cx="207866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5AE15E-5018-8550-9C3A-3282EC350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326" y="3006199"/>
            <a:ext cx="9473630" cy="26170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3945050-2C00-D47B-1FA3-2DFB0B0D5BA1}"/>
              </a:ext>
            </a:extLst>
          </p:cNvPr>
          <p:cNvSpPr txBox="1"/>
          <p:nvPr/>
        </p:nvSpPr>
        <p:spPr>
          <a:xfrm>
            <a:off x="4067517" y="5722613"/>
            <a:ext cx="61084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 10 : Handling out of context questions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9DDBEA-6140-6ABF-1C04-32500FFDD961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1F3C0C-67FF-23EE-99BF-190DC678D5D4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26</a:t>
            </a:r>
          </a:p>
        </p:txBody>
      </p:sp>
    </p:spTree>
    <p:extLst>
      <p:ext uri="{BB962C8B-B14F-4D97-AF65-F5344CB8AC3E}">
        <p14:creationId xmlns:p14="http://schemas.microsoft.com/office/powerpoint/2010/main" val="21248368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0A505FD-BA20-32A9-B175-F6FC067AB550}"/>
              </a:ext>
            </a:extLst>
          </p:cNvPr>
          <p:cNvSpPr txBox="1"/>
          <p:nvPr/>
        </p:nvSpPr>
        <p:spPr>
          <a:xfrm>
            <a:off x="-30480" y="-10121"/>
            <a:ext cx="2109145" cy="6463308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dirty="0">
              <a:solidFill>
                <a:srgbClr val="2727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6D8421-4496-2B93-203D-A41F0D1516FC}"/>
              </a:ext>
            </a:extLst>
          </p:cNvPr>
          <p:cNvSpPr txBox="1"/>
          <p:nvPr/>
        </p:nvSpPr>
        <p:spPr>
          <a:xfrm>
            <a:off x="0" y="3838296"/>
            <a:ext cx="20786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844DB-DA99-3C31-AC82-30973B42665B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ED87A-0C5A-5D0B-0B0E-E386884C6CB1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0F44F-E504-405B-93CB-834D156B78D7}"/>
              </a:ext>
            </a:extLst>
          </p:cNvPr>
          <p:cNvSpPr txBox="1"/>
          <p:nvPr/>
        </p:nvSpPr>
        <p:spPr>
          <a:xfrm>
            <a:off x="6655981" y="-10121"/>
            <a:ext cx="55360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Verse : Dynamic video question answering through RAG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8B7A824-03A1-8B17-CE52-39124FA11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075" y="214487"/>
            <a:ext cx="6833193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of chat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38B8F-1620-73CA-014C-DFFD98E126C8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116971-5AA3-076E-77C6-DE6F2672A549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AA8848-962F-D13C-2BCA-A34BD22A3AB7}"/>
              </a:ext>
            </a:extLst>
          </p:cNvPr>
          <p:cNvSpPr txBox="1"/>
          <p:nvPr/>
        </p:nvSpPr>
        <p:spPr>
          <a:xfrm>
            <a:off x="4282263" y="6015979"/>
            <a:ext cx="61084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 11 : Frontend implementation in python and </a:t>
            </a:r>
            <a:r>
              <a:rPr lang="en-IN" sz="16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D98214-874D-31D3-A31B-FD34CD4D0A1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554" t="17509" r="15865" b="6988"/>
          <a:stretch/>
        </p:blipFill>
        <p:spPr>
          <a:xfrm>
            <a:off x="2386314" y="1232478"/>
            <a:ext cx="9519688" cy="47258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12021A0-1196-3150-FD0A-A18D7ED5FD97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9390D4-D5C3-AC73-FFA4-623A2430E1E2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27</a:t>
            </a:r>
          </a:p>
        </p:txBody>
      </p:sp>
    </p:spTree>
    <p:extLst>
      <p:ext uri="{BB962C8B-B14F-4D97-AF65-F5344CB8AC3E}">
        <p14:creationId xmlns:p14="http://schemas.microsoft.com/office/powerpoint/2010/main" val="27399322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0A505FD-BA20-32A9-B175-F6FC067AB550}"/>
              </a:ext>
            </a:extLst>
          </p:cNvPr>
          <p:cNvSpPr txBox="1"/>
          <p:nvPr/>
        </p:nvSpPr>
        <p:spPr>
          <a:xfrm>
            <a:off x="-30480" y="-10121"/>
            <a:ext cx="2109145" cy="6463308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dirty="0">
              <a:solidFill>
                <a:srgbClr val="2727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6D8421-4496-2B93-203D-A41F0D1516FC}"/>
              </a:ext>
            </a:extLst>
          </p:cNvPr>
          <p:cNvSpPr txBox="1"/>
          <p:nvPr/>
        </p:nvSpPr>
        <p:spPr>
          <a:xfrm>
            <a:off x="0" y="3838296"/>
            <a:ext cx="20786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844DB-DA99-3C31-AC82-30973B42665B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ED87A-0C5A-5D0B-0B0E-E386884C6CB1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0F44F-E504-405B-93CB-834D156B78D7}"/>
              </a:ext>
            </a:extLst>
          </p:cNvPr>
          <p:cNvSpPr txBox="1"/>
          <p:nvPr/>
        </p:nvSpPr>
        <p:spPr>
          <a:xfrm>
            <a:off x="6698513" y="-10121"/>
            <a:ext cx="5493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Verse : Dynamic video question answering through RAG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38B8F-1620-73CA-014C-DFFD98E126C8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116971-5AA3-076E-77C6-DE6F2672A549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AA8848-962F-D13C-2BCA-A34BD22A3AB7}"/>
              </a:ext>
            </a:extLst>
          </p:cNvPr>
          <p:cNvSpPr txBox="1"/>
          <p:nvPr/>
        </p:nvSpPr>
        <p:spPr>
          <a:xfrm>
            <a:off x="4104685" y="5899984"/>
            <a:ext cx="61084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 12 : Answer to user query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5942768-6EAB-6AA0-EBAD-6E95E5D615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189" r="16045" b="2913"/>
          <a:stretch/>
        </p:blipFill>
        <p:spPr>
          <a:xfrm>
            <a:off x="2279073" y="694232"/>
            <a:ext cx="9739745" cy="506925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09B2EF6-5E12-203D-9801-7DDBB73F47B5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B6B663-0718-F5A7-33BC-460FE8D0ECE0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28</a:t>
            </a:r>
          </a:p>
        </p:txBody>
      </p:sp>
    </p:spTree>
    <p:extLst>
      <p:ext uri="{BB962C8B-B14F-4D97-AF65-F5344CB8AC3E}">
        <p14:creationId xmlns:p14="http://schemas.microsoft.com/office/powerpoint/2010/main" val="32623133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0A505FD-BA20-32A9-B175-F6FC067AB550}"/>
              </a:ext>
            </a:extLst>
          </p:cNvPr>
          <p:cNvSpPr txBox="1"/>
          <p:nvPr/>
        </p:nvSpPr>
        <p:spPr>
          <a:xfrm>
            <a:off x="-30480" y="-10121"/>
            <a:ext cx="2109145" cy="6463308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dirty="0">
              <a:solidFill>
                <a:srgbClr val="2727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6D8421-4496-2B93-203D-A41F0D1516FC}"/>
              </a:ext>
            </a:extLst>
          </p:cNvPr>
          <p:cNvSpPr txBox="1"/>
          <p:nvPr/>
        </p:nvSpPr>
        <p:spPr>
          <a:xfrm>
            <a:off x="0" y="3838296"/>
            <a:ext cx="20786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844DB-DA99-3C31-AC82-30973B42665B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ED87A-0C5A-5D0B-0B0E-E386884C6CB1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27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0F44F-E504-405B-93CB-834D156B78D7}"/>
              </a:ext>
            </a:extLst>
          </p:cNvPr>
          <p:cNvSpPr txBox="1"/>
          <p:nvPr/>
        </p:nvSpPr>
        <p:spPr>
          <a:xfrm>
            <a:off x="6730409" y="-10121"/>
            <a:ext cx="5461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Verse : Dynamic video question answering through RAG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38B8F-1620-73CA-014C-DFFD98E126C8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116971-5AA3-076E-77C6-DE6F2672A549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AA8848-962F-D13C-2BCA-A34BD22A3AB7}"/>
              </a:ext>
            </a:extLst>
          </p:cNvPr>
          <p:cNvSpPr txBox="1"/>
          <p:nvPr/>
        </p:nvSpPr>
        <p:spPr>
          <a:xfrm>
            <a:off x="4282263" y="5872275"/>
            <a:ext cx="61084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 13 : Response to out of context question with respect to video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C1E9E5F-A665-FFB4-9040-AEB0424E5F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6" t="14687" r="16391" b="2033"/>
          <a:stretch/>
        </p:blipFill>
        <p:spPr>
          <a:xfrm>
            <a:off x="2295731" y="684078"/>
            <a:ext cx="9719501" cy="51278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C3B772-B9A5-AC67-82B6-7DC3CBF81B39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840FB5-10D4-33CC-BC7F-FEEE389598F2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29</a:t>
            </a:r>
          </a:p>
        </p:txBody>
      </p:sp>
    </p:spTree>
    <p:extLst>
      <p:ext uri="{BB962C8B-B14F-4D97-AF65-F5344CB8AC3E}">
        <p14:creationId xmlns:p14="http://schemas.microsoft.com/office/powerpoint/2010/main" val="7265120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0A505FD-BA20-32A9-B175-F6FC067AB550}"/>
              </a:ext>
            </a:extLst>
          </p:cNvPr>
          <p:cNvSpPr txBox="1"/>
          <p:nvPr/>
        </p:nvSpPr>
        <p:spPr>
          <a:xfrm>
            <a:off x="-30480" y="-10121"/>
            <a:ext cx="2109145" cy="6463308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dirty="0">
              <a:solidFill>
                <a:srgbClr val="2727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844DB-DA99-3C31-AC82-30973B42665B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ED87A-0C5A-5D0B-0B0E-E386884C6CB1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28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0F44F-E504-405B-93CB-834D156B78D7}"/>
              </a:ext>
            </a:extLst>
          </p:cNvPr>
          <p:cNvSpPr txBox="1"/>
          <p:nvPr/>
        </p:nvSpPr>
        <p:spPr>
          <a:xfrm>
            <a:off x="6741043" y="-10121"/>
            <a:ext cx="54509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Verse : Dynamic video question answering through RAG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38B8F-1620-73CA-014C-DFFD98E126C8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116971-5AA3-076E-77C6-DE6F2672A549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E64A3C-65E6-0A50-A287-EC9C3B64B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2326" y="850606"/>
            <a:ext cx="9799674" cy="508236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Rejection of out of context questions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C48794-66C9-4CE0-9569-87E6AFFA2A71}"/>
              </a:ext>
            </a:extLst>
          </p:cNvPr>
          <p:cNvSpPr txBox="1"/>
          <p:nvPr/>
        </p:nvSpPr>
        <p:spPr>
          <a:xfrm>
            <a:off x="0" y="4430965"/>
            <a:ext cx="207866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CDBF62-3330-1D2D-1152-6D8380AE97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482"/>
          <a:stretch/>
        </p:blipFill>
        <p:spPr>
          <a:xfrm>
            <a:off x="2332392" y="1349637"/>
            <a:ext cx="9288994" cy="43501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1AD2EA-1C7F-2C5E-2C36-9BD5C32EEC0A}"/>
              </a:ext>
            </a:extLst>
          </p:cNvPr>
          <p:cNvSpPr txBox="1"/>
          <p:nvPr/>
        </p:nvSpPr>
        <p:spPr>
          <a:xfrm>
            <a:off x="4282263" y="5941548"/>
            <a:ext cx="61084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 14 : Reliability graph on sample of 100 query per temperature value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5A002D-4998-39A0-F6A0-FC4164A1E13D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E42EFB-235C-7605-E711-9414A9137488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30</a:t>
            </a:r>
          </a:p>
        </p:txBody>
      </p:sp>
    </p:spTree>
    <p:extLst>
      <p:ext uri="{BB962C8B-B14F-4D97-AF65-F5344CB8AC3E}">
        <p14:creationId xmlns:p14="http://schemas.microsoft.com/office/powerpoint/2010/main" val="32072316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0A505FD-BA20-32A9-B175-F6FC067AB550}"/>
              </a:ext>
            </a:extLst>
          </p:cNvPr>
          <p:cNvSpPr txBox="1"/>
          <p:nvPr/>
        </p:nvSpPr>
        <p:spPr>
          <a:xfrm>
            <a:off x="-30480" y="-10121"/>
            <a:ext cx="2109145" cy="6463308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dirty="0">
              <a:solidFill>
                <a:srgbClr val="2727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844DB-DA99-3C31-AC82-30973B42665B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ED87A-0C5A-5D0B-0B0E-E386884C6CB1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29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0F44F-E504-405B-93CB-834D156B78D7}"/>
              </a:ext>
            </a:extLst>
          </p:cNvPr>
          <p:cNvSpPr txBox="1"/>
          <p:nvPr/>
        </p:nvSpPr>
        <p:spPr>
          <a:xfrm>
            <a:off x="6698513" y="-10121"/>
            <a:ext cx="5493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Verse : Dynamic video question answering through RAG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38B8F-1620-73CA-014C-DFFD98E126C8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116971-5AA3-076E-77C6-DE6F2672A549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E64A3C-65E6-0A50-A287-EC9C3B64B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2326" y="793455"/>
            <a:ext cx="9569301" cy="54013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Reliability of response w.r.t different parameters</a:t>
            </a:r>
          </a:p>
          <a:p>
            <a:pPr marL="0" indent="0" algn="just">
              <a:buNone/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Prompt</a:t>
            </a:r>
          </a:p>
          <a:p>
            <a:pPr lvl="1" algn="just"/>
            <a:r>
              <a:rPr lang="en-IN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raft to handle hallucination</a:t>
            </a:r>
          </a:p>
          <a:p>
            <a:pPr lvl="1" algn="just"/>
            <a:r>
              <a:rPr lang="en-IN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 book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exam mode</a:t>
            </a:r>
          </a:p>
          <a:p>
            <a:pPr marL="914400" lvl="2" indent="0" algn="just">
              <a:buNone/>
            </a:pPr>
            <a:endParaRPr lang="en-IN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</a:p>
          <a:p>
            <a:pPr lvl="1" algn="just"/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Vary between [0, 2]</a:t>
            </a:r>
          </a:p>
          <a:p>
            <a:pPr lvl="1" algn="just"/>
            <a:r>
              <a:rPr lang="en-IN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reativity of generation mode</a:t>
            </a:r>
          </a:p>
          <a:p>
            <a:pPr lvl="1" algn="just"/>
            <a:r>
              <a:rPr lang="en-IN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Temperature selection</a:t>
            </a:r>
          </a:p>
          <a:p>
            <a:pPr marL="914400" lvl="2" indent="0" algn="just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Quality of the retriever</a:t>
            </a:r>
          </a:p>
          <a:p>
            <a:pPr lvl="1" algn="just"/>
            <a:r>
              <a:rPr lang="en-US" sz="20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Retriever must be able to identify the relevant chunks that can best answer the user's query.</a:t>
            </a:r>
          </a:p>
          <a:p>
            <a:pPr lvl="1" algn="just"/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Generator’s</a:t>
            </a:r>
            <a:r>
              <a:rPr lang="en-US" sz="20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response is based on the information provided by the retriever</a:t>
            </a:r>
            <a:endParaRPr lang="en-IN" sz="200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-IN" sz="14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-IN" sz="14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C48794-66C9-4CE0-9569-87E6AFFA2A71}"/>
              </a:ext>
            </a:extLst>
          </p:cNvPr>
          <p:cNvSpPr txBox="1"/>
          <p:nvPr/>
        </p:nvSpPr>
        <p:spPr>
          <a:xfrm>
            <a:off x="0" y="4430965"/>
            <a:ext cx="207866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5E06C4-B179-72EA-62F3-A1F7739ACC83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24DFE1-AD30-708D-4799-0E299CD478D4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31</a:t>
            </a:r>
          </a:p>
        </p:txBody>
      </p:sp>
    </p:spTree>
    <p:extLst>
      <p:ext uri="{BB962C8B-B14F-4D97-AF65-F5344CB8AC3E}">
        <p14:creationId xmlns:p14="http://schemas.microsoft.com/office/powerpoint/2010/main" val="10437281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0A505FD-BA20-32A9-B175-F6FC067AB550}"/>
              </a:ext>
            </a:extLst>
          </p:cNvPr>
          <p:cNvSpPr txBox="1"/>
          <p:nvPr/>
        </p:nvSpPr>
        <p:spPr>
          <a:xfrm>
            <a:off x="-30480" y="-10121"/>
            <a:ext cx="2109145" cy="6463308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dirty="0">
              <a:solidFill>
                <a:srgbClr val="2727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844DB-DA99-3C31-AC82-30973B42665B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ED87A-0C5A-5D0B-0B0E-E386884C6CB1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0F44F-E504-405B-93CB-834D156B78D7}"/>
              </a:ext>
            </a:extLst>
          </p:cNvPr>
          <p:cNvSpPr txBox="1"/>
          <p:nvPr/>
        </p:nvSpPr>
        <p:spPr>
          <a:xfrm>
            <a:off x="6698513" y="-10121"/>
            <a:ext cx="5493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Verse : Dynamic video question answering through RAG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38B8F-1620-73CA-014C-DFFD98E126C8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116971-5AA3-076E-77C6-DE6F2672A549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C48794-66C9-4CE0-9569-87E6AFFA2A71}"/>
              </a:ext>
            </a:extLst>
          </p:cNvPr>
          <p:cNvSpPr txBox="1"/>
          <p:nvPr/>
        </p:nvSpPr>
        <p:spPr>
          <a:xfrm>
            <a:off x="0" y="4430965"/>
            <a:ext cx="207866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F60A961-3D3E-4D50-BC26-8BE62AF63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331" y="698529"/>
            <a:ext cx="7772400" cy="2475286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1BEF55-9ADE-CB5C-DE88-D1124D396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2326" y="850606"/>
            <a:ext cx="9569301" cy="234219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endParaRPr lang="en-IN" sz="32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2C2964-C380-04A4-CE33-64B98C45C46B}"/>
              </a:ext>
            </a:extLst>
          </p:cNvPr>
          <p:cNvSpPr txBox="1"/>
          <p:nvPr/>
        </p:nvSpPr>
        <p:spPr>
          <a:xfrm>
            <a:off x="3360331" y="3198665"/>
            <a:ext cx="76443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 14 : Hallucinated response, when the question aligns closely the context (Temp =</a:t>
            </a: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1.5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935E957-833F-BCF0-2367-12939047C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4574" y="3593414"/>
            <a:ext cx="7772400" cy="237862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DBC08EE-4E31-CE1E-1137-F799EF13036C}"/>
              </a:ext>
            </a:extLst>
          </p:cNvPr>
          <p:cNvSpPr txBox="1"/>
          <p:nvPr/>
        </p:nvSpPr>
        <p:spPr>
          <a:xfrm>
            <a:off x="3418590" y="6012543"/>
            <a:ext cx="76443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 15 : Highly reliable response, when the question aligns closely the context (Temp =0.1)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274A57-200A-233F-A0B8-74F1D49EC38E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9311B3-107F-6F06-1C7D-BD578CC439E3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32</a:t>
            </a:r>
          </a:p>
        </p:txBody>
      </p:sp>
    </p:spTree>
    <p:extLst>
      <p:ext uri="{BB962C8B-B14F-4D97-AF65-F5344CB8AC3E}">
        <p14:creationId xmlns:p14="http://schemas.microsoft.com/office/powerpoint/2010/main" val="18010398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0A505FD-BA20-32A9-B175-F6FC067AB550}"/>
              </a:ext>
            </a:extLst>
          </p:cNvPr>
          <p:cNvSpPr txBox="1"/>
          <p:nvPr/>
        </p:nvSpPr>
        <p:spPr>
          <a:xfrm>
            <a:off x="-30480" y="-10121"/>
            <a:ext cx="2109145" cy="6463308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dirty="0">
              <a:solidFill>
                <a:srgbClr val="2727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844DB-DA99-3C31-AC82-30973B42665B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ED87A-0C5A-5D0B-0B0E-E386884C6CB1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31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0F44F-E504-405B-93CB-834D156B78D7}"/>
              </a:ext>
            </a:extLst>
          </p:cNvPr>
          <p:cNvSpPr txBox="1"/>
          <p:nvPr/>
        </p:nvSpPr>
        <p:spPr>
          <a:xfrm>
            <a:off x="6719777" y="-10121"/>
            <a:ext cx="54722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Verse : Dynamic video question answering through RAG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38B8F-1620-73CA-014C-DFFD98E126C8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116971-5AA3-076E-77C6-DE6F2672A549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E64A3C-65E6-0A50-A287-EC9C3B64B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8637" y="1607910"/>
            <a:ext cx="8080744" cy="3311743"/>
          </a:xfrm>
        </p:spPr>
        <p:txBody>
          <a:bodyPr>
            <a:normAutofit/>
          </a:bodyPr>
          <a:lstStyle/>
          <a:p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Saves time, improves engagement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tackles video information overload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Offers concise answers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</a:t>
            </a:r>
            <a:r>
              <a:rPr lang="en-IN" sz="2000" dirty="0">
                <a:solidFill>
                  <a:srgbClr val="0F0E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lingual Support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0F0E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Educational learning aid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b="0" i="0" dirty="0">
              <a:solidFill>
                <a:srgbClr val="0F0E0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77ECC7-C94E-E58C-E4D6-1F984F90FDAE}"/>
              </a:ext>
            </a:extLst>
          </p:cNvPr>
          <p:cNvSpPr txBox="1"/>
          <p:nvPr/>
        </p:nvSpPr>
        <p:spPr>
          <a:xfrm>
            <a:off x="-1" y="5252428"/>
            <a:ext cx="20786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450626-C251-87AD-0353-4525BABDD220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F95261-EBDE-1881-DBA4-91A82AB435AB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33</a:t>
            </a:r>
          </a:p>
        </p:txBody>
      </p:sp>
    </p:spTree>
    <p:extLst>
      <p:ext uri="{BB962C8B-B14F-4D97-AF65-F5344CB8AC3E}">
        <p14:creationId xmlns:p14="http://schemas.microsoft.com/office/powerpoint/2010/main" val="20922188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0A505FD-BA20-32A9-B175-F6FC067AB550}"/>
              </a:ext>
            </a:extLst>
          </p:cNvPr>
          <p:cNvSpPr txBox="1"/>
          <p:nvPr/>
        </p:nvSpPr>
        <p:spPr>
          <a:xfrm>
            <a:off x="-30480" y="-10121"/>
            <a:ext cx="2109145" cy="6463308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dirty="0">
              <a:solidFill>
                <a:srgbClr val="2727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844DB-DA99-3C31-AC82-30973B42665B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ED87A-0C5A-5D0B-0B0E-E386884C6CB1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32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0F44F-E504-405B-93CB-834D156B78D7}"/>
              </a:ext>
            </a:extLst>
          </p:cNvPr>
          <p:cNvSpPr txBox="1"/>
          <p:nvPr/>
        </p:nvSpPr>
        <p:spPr>
          <a:xfrm>
            <a:off x="6719777" y="-10121"/>
            <a:ext cx="54722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Verse : Dynamic video question answering through RAG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38B8F-1620-73CA-014C-DFFD98E126C8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116971-5AA3-076E-77C6-DE6F2672A549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E64A3C-65E6-0A50-A287-EC9C3B64B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8812" y="1082624"/>
            <a:ext cx="9123698" cy="552815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IN" sz="2000" b="1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Ashish Vaswani, Noam </a:t>
            </a:r>
            <a:r>
              <a:rPr lang="en-IN" sz="2000" b="0" i="0" dirty="0" err="1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Shazeer</a:t>
            </a:r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Niki Parmar, Jakob </a:t>
            </a:r>
            <a:r>
              <a:rPr lang="en-IN" sz="2000" b="0" i="0" dirty="0" err="1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Uszkoreit</a:t>
            </a:r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b="0" i="0" dirty="0" err="1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Llion</a:t>
            </a:r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Jones, Aidan N. Gomez, </a:t>
            </a:r>
            <a:r>
              <a:rPr lang="en-IN" sz="2000" b="0" i="0" dirty="0" err="1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Łukasz</a:t>
            </a:r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Kaiser and Illia </a:t>
            </a:r>
            <a:r>
              <a:rPr lang="en-IN" sz="2000" b="0" i="0" dirty="0" err="1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Polosukhin</a:t>
            </a:r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“Attention is all you need”, 2023//arXiv:1706.03762v7/</a:t>
            </a:r>
          </a:p>
          <a:p>
            <a:pPr marL="0" indent="0">
              <a:lnSpc>
                <a:spcPct val="110000"/>
              </a:lnSpc>
              <a:buNone/>
            </a:pPr>
            <a:endParaRPr lang="en-IN" sz="2000" dirty="0">
              <a:solidFill>
                <a:srgbClr val="0F0E0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IN" sz="2000" b="1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Jon Saad-Falcon, Joe Barrow, Alexa Siu , Ani </a:t>
            </a:r>
            <a:r>
              <a:rPr lang="en-IN" sz="2000" b="0" i="0" dirty="0" err="1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Nenkova</a:t>
            </a:r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David </a:t>
            </a:r>
            <a:r>
              <a:rPr lang="en-IN" sz="2000" b="0" i="0" dirty="0" err="1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Seunghyun</a:t>
            </a:r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Yoon, Ryan A. Rossi and Franck </a:t>
            </a:r>
            <a:r>
              <a:rPr lang="en-IN" sz="2000" b="0" i="0" dirty="0" err="1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Dernoncourt</a:t>
            </a:r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IN" sz="2000" b="0" i="0" dirty="0" err="1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PDFTriage</a:t>
            </a:r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Question Answering over Long, Structured Documents”, 2023//arXiv:2309.08872v2/</a:t>
            </a:r>
          </a:p>
          <a:p>
            <a:pPr marL="0" indent="0">
              <a:lnSpc>
                <a:spcPct val="110000"/>
              </a:lnSpc>
              <a:buNone/>
            </a:pPr>
            <a:endParaRPr lang="en-IN" sz="2000" dirty="0">
              <a:solidFill>
                <a:srgbClr val="0F0E0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IN" sz="2000" b="1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Md Adnan </a:t>
            </a:r>
            <a:r>
              <a:rPr lang="en-IN" sz="2000" b="0" i="0" dirty="0" err="1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Arefeen</a:t>
            </a:r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b="0" i="0" dirty="0" err="1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Biplob</a:t>
            </a:r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Debnath1, and </a:t>
            </a:r>
            <a:r>
              <a:rPr lang="en-IN" sz="2000" b="0" i="0" dirty="0" err="1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Srimat</a:t>
            </a:r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Chakradhar “</a:t>
            </a:r>
            <a:r>
              <a:rPr lang="en-IN" sz="2000" b="0" i="0" dirty="0" err="1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LeanContext</a:t>
            </a:r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Cost-Efficient Domain-Specific Question Answering Using LLMs”, 2023//arXiv:2309.00841v1</a:t>
            </a:r>
            <a:endParaRPr lang="en-IN" sz="2000" dirty="0">
              <a:solidFill>
                <a:srgbClr val="0F0E0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77ECC7-C94E-E58C-E4D6-1F984F90FDAE}"/>
              </a:ext>
            </a:extLst>
          </p:cNvPr>
          <p:cNvSpPr txBox="1"/>
          <p:nvPr/>
        </p:nvSpPr>
        <p:spPr>
          <a:xfrm>
            <a:off x="0" y="5794688"/>
            <a:ext cx="20786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7AFC1C-9F2D-3521-2102-CAD1E4554AF0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353D4D-56C4-634F-A3EB-C46917F4F7F3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34</a:t>
            </a:r>
          </a:p>
        </p:txBody>
      </p:sp>
    </p:spTree>
    <p:extLst>
      <p:ext uri="{BB962C8B-B14F-4D97-AF65-F5344CB8AC3E}">
        <p14:creationId xmlns:p14="http://schemas.microsoft.com/office/powerpoint/2010/main" val="17703337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0A505FD-BA20-32A9-B175-F6FC067AB550}"/>
              </a:ext>
            </a:extLst>
          </p:cNvPr>
          <p:cNvSpPr txBox="1"/>
          <p:nvPr/>
        </p:nvSpPr>
        <p:spPr>
          <a:xfrm>
            <a:off x="-30480" y="-10121"/>
            <a:ext cx="2109146" cy="6463308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dirty="0">
              <a:solidFill>
                <a:srgbClr val="2727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844DB-DA99-3C31-AC82-30973B42665B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ED87A-0C5A-5D0B-0B0E-E386884C6CB1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33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0F44F-E504-405B-93CB-834D156B78D7}"/>
              </a:ext>
            </a:extLst>
          </p:cNvPr>
          <p:cNvSpPr txBox="1"/>
          <p:nvPr/>
        </p:nvSpPr>
        <p:spPr>
          <a:xfrm>
            <a:off x="6719777" y="-10121"/>
            <a:ext cx="54722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Verse : Dynamic video question answering through RAG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38B8F-1620-73CA-014C-DFFD98E126C8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116971-5AA3-076E-77C6-DE6F2672A549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E64A3C-65E6-0A50-A287-EC9C3B64B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7973" y="1256722"/>
            <a:ext cx="9255318" cy="5421023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2000" b="1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Radford, A. (2022, December 6). Robust Speech Recognition via Large-Scale Weak Supervision//</a:t>
            </a:r>
            <a:r>
              <a:rPr lang="en-IN" sz="2000" b="0" i="0" dirty="0" err="1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:/2212.04356</a:t>
            </a:r>
          </a:p>
          <a:p>
            <a:pPr marL="0" indent="0">
              <a:lnSpc>
                <a:spcPct val="120000"/>
              </a:lnSpc>
              <a:buNone/>
            </a:pPr>
            <a:endParaRPr lang="en-IN" sz="2000" dirty="0">
              <a:solidFill>
                <a:srgbClr val="0F0E0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IN" sz="2000" b="1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r>
              <a:rPr lang="en-IN" sz="2000" b="0" i="0" dirty="0" err="1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M. Saraswathi, VVSV Ronit and S Sai Pranav "Implementation of Video and Audio to Text Converter", 2023//International Journal of Research Publication and Reviews, Vol 4, no 5, pp 1204-1208, ISSN 2582-7421/</a:t>
            </a:r>
          </a:p>
          <a:p>
            <a:pPr marL="0" indent="0">
              <a:lnSpc>
                <a:spcPct val="110000"/>
              </a:lnSpc>
              <a:buNone/>
            </a:pPr>
            <a:endParaRPr lang="en-IN" sz="2000" dirty="0">
              <a:solidFill>
                <a:srgbClr val="0F0E0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IN" sz="2000" b="1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[6]</a:t>
            </a:r>
            <a:r>
              <a:rPr lang="en-IN" sz="2000" b="0" i="0" dirty="0" err="1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Zhongqiang</a:t>
            </a:r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Huang and Mary Harper. Self-training PCFG grammars with latent annotations across languages. In Proceedings of the 2009 Conference on Empirical Methods in Natural Language Processing, pages 832–841. ACL, August 2009/</a:t>
            </a:r>
            <a:endParaRPr lang="en-IN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77ECC7-C94E-E58C-E4D6-1F984F90FDAE}"/>
              </a:ext>
            </a:extLst>
          </p:cNvPr>
          <p:cNvSpPr txBox="1"/>
          <p:nvPr/>
        </p:nvSpPr>
        <p:spPr>
          <a:xfrm>
            <a:off x="0" y="5794688"/>
            <a:ext cx="20786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B99C47-4DE1-D11A-3F41-988AFC2A40CA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49037C-54AD-7286-6EC8-C0A396D219D9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35</a:t>
            </a:r>
          </a:p>
        </p:txBody>
      </p:sp>
    </p:spTree>
    <p:extLst>
      <p:ext uri="{BB962C8B-B14F-4D97-AF65-F5344CB8AC3E}">
        <p14:creationId xmlns:p14="http://schemas.microsoft.com/office/powerpoint/2010/main" val="35407329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0A505FD-BA20-32A9-B175-F6FC067AB550}"/>
              </a:ext>
            </a:extLst>
          </p:cNvPr>
          <p:cNvSpPr txBox="1"/>
          <p:nvPr/>
        </p:nvSpPr>
        <p:spPr>
          <a:xfrm>
            <a:off x="-30480" y="-10121"/>
            <a:ext cx="2109145" cy="6463308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pPr algn="ctr"/>
            <a:endParaRPr lang="en-IN" sz="1800" dirty="0">
              <a:solidFill>
                <a:srgbClr val="2727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844DB-DA99-3C31-AC82-30973B42665B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ED87A-0C5A-5D0B-0B0E-E386884C6CB1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34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0F44F-E504-405B-93CB-834D156B78D7}"/>
              </a:ext>
            </a:extLst>
          </p:cNvPr>
          <p:cNvSpPr txBox="1"/>
          <p:nvPr/>
        </p:nvSpPr>
        <p:spPr>
          <a:xfrm>
            <a:off x="6698513" y="-10121"/>
            <a:ext cx="5493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Verse : Dynamic video question answering through RAG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38B8F-1620-73CA-014C-DFFD98E126C8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116971-5AA3-076E-77C6-DE6F2672A549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E64A3C-65E6-0A50-A287-EC9C3B64B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8564" y="1274041"/>
            <a:ext cx="8936181" cy="510929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2000" b="1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[7]</a:t>
            </a:r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https://www.youtube.com/watch?v=bCz4OMemCcA</a:t>
            </a:r>
          </a:p>
          <a:p>
            <a:pPr marL="0" indent="0">
              <a:lnSpc>
                <a:spcPct val="100000"/>
              </a:lnSpc>
              <a:buNone/>
            </a:pPr>
            <a:endParaRPr lang="en-IN" sz="2000" dirty="0">
              <a:solidFill>
                <a:srgbClr val="0F0E0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000" b="1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[8]</a:t>
            </a:r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https://www.youtube.com/watch?v=TQQlZhbC5ps</a:t>
            </a:r>
          </a:p>
          <a:p>
            <a:pPr marL="0" indent="0">
              <a:lnSpc>
                <a:spcPct val="100000"/>
              </a:lnSpc>
              <a:buNone/>
            </a:pPr>
            <a:endParaRPr lang="en-IN" sz="2000" dirty="0">
              <a:solidFill>
                <a:srgbClr val="0F0E0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IN" sz="2000" b="1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[9]</a:t>
            </a:r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David </a:t>
            </a:r>
            <a:r>
              <a:rPr lang="en-IN" sz="2000" b="0" i="0" dirty="0" err="1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McClosky</a:t>
            </a:r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Eugene </a:t>
            </a:r>
            <a:r>
              <a:rPr lang="en-IN" sz="2000" b="0" i="0" dirty="0" err="1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Charniak</a:t>
            </a:r>
            <a:r>
              <a:rPr lang="en-IN" sz="2000" b="0" i="0" dirty="0">
                <a:solidFill>
                  <a:srgbClr val="0F0E0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Mark Johnson. Effective self-training for parsing. In Proceedings of the Human Language Technology Conference of the NAACL, Main Conference, pages 152–159. ACL, June 2006/</a:t>
            </a:r>
            <a:endParaRPr lang="en-IN" sz="2000" dirty="0">
              <a:solidFill>
                <a:srgbClr val="0F0E0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IN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77ECC7-C94E-E58C-E4D6-1F984F90FDAE}"/>
              </a:ext>
            </a:extLst>
          </p:cNvPr>
          <p:cNvSpPr txBox="1"/>
          <p:nvPr/>
        </p:nvSpPr>
        <p:spPr>
          <a:xfrm>
            <a:off x="0" y="5794688"/>
            <a:ext cx="20786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09ED73-2ED1-8234-0043-0646ADA0741C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D6E72C-48E7-CE59-4099-5ED3032104A1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36</a:t>
            </a:r>
          </a:p>
        </p:txBody>
      </p:sp>
    </p:spTree>
    <p:extLst>
      <p:ext uri="{BB962C8B-B14F-4D97-AF65-F5344CB8AC3E}">
        <p14:creationId xmlns:p14="http://schemas.microsoft.com/office/powerpoint/2010/main" val="36399002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0A505FD-BA20-32A9-B175-F6FC067AB550}"/>
              </a:ext>
            </a:extLst>
          </p:cNvPr>
          <p:cNvSpPr txBox="1"/>
          <p:nvPr/>
        </p:nvSpPr>
        <p:spPr>
          <a:xfrm>
            <a:off x="-30480" y="-10121"/>
            <a:ext cx="2109145" cy="6740307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pPr algn="ctr"/>
            <a:endParaRPr lang="en-IN" sz="800" dirty="0">
              <a:solidFill>
                <a:srgbClr val="27272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status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8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algn="ctr"/>
            <a:endParaRPr lang="en-IN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844DB-DA99-3C31-AC82-30973B42665B}"/>
              </a:ext>
            </a:extLst>
          </p:cNvPr>
          <p:cNvSpPr txBox="1"/>
          <p:nvPr/>
        </p:nvSpPr>
        <p:spPr>
          <a:xfrm>
            <a:off x="0" y="6488668"/>
            <a:ext cx="12192000" cy="369332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ED87A-0C5A-5D0B-0B0E-E386884C6CB1}"/>
              </a:ext>
            </a:extLst>
          </p:cNvPr>
          <p:cNvSpPr txBox="1"/>
          <p:nvPr/>
        </p:nvSpPr>
        <p:spPr>
          <a:xfrm>
            <a:off x="-1" y="6531765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09-04-2024                                                                        Department of Computer Science &amp; Engineering, M.A.C.E                                                                        34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0F44F-E504-405B-93CB-834D156B78D7}"/>
              </a:ext>
            </a:extLst>
          </p:cNvPr>
          <p:cNvSpPr txBox="1"/>
          <p:nvPr/>
        </p:nvSpPr>
        <p:spPr>
          <a:xfrm>
            <a:off x="6698513" y="-10121"/>
            <a:ext cx="5493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Verse : Dynamic video question answering through RAG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38B8F-1620-73CA-014C-DFFD98E126C8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116971-5AA3-076E-77C6-DE6F2672A549}"/>
              </a:ext>
            </a:extLst>
          </p:cNvPr>
          <p:cNvSpPr txBox="1"/>
          <p:nvPr/>
        </p:nvSpPr>
        <p:spPr>
          <a:xfrm>
            <a:off x="3054202" y="3254966"/>
            <a:ext cx="61084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DE64A3C-65E6-0A50-A287-EC9C3B64B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8564" y="885915"/>
            <a:ext cx="8936181" cy="510929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endParaRPr lang="en-IN" sz="20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77ECC7-C94E-E58C-E4D6-1F984F90FDAE}"/>
              </a:ext>
            </a:extLst>
          </p:cNvPr>
          <p:cNvSpPr txBox="1"/>
          <p:nvPr/>
        </p:nvSpPr>
        <p:spPr>
          <a:xfrm>
            <a:off x="-30480" y="6071131"/>
            <a:ext cx="211063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publication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09ED73-2ED1-8234-0043-0646ADA0741C}"/>
              </a:ext>
            </a:extLst>
          </p:cNvPr>
          <p:cNvSpPr txBox="1"/>
          <p:nvPr/>
        </p:nvSpPr>
        <p:spPr>
          <a:xfrm>
            <a:off x="-30480" y="6419089"/>
            <a:ext cx="12252960" cy="457200"/>
          </a:xfrm>
          <a:prstGeom prst="rect">
            <a:avLst/>
          </a:prstGeom>
          <a:solidFill>
            <a:srgbClr val="2F1505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D6E72C-48E7-CE59-4099-5ED3032104A1}"/>
              </a:ext>
            </a:extLst>
          </p:cNvPr>
          <p:cNvSpPr txBox="1"/>
          <p:nvPr/>
        </p:nvSpPr>
        <p:spPr>
          <a:xfrm>
            <a:off x="-1" y="6492240"/>
            <a:ext cx="11961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09-05-2024                                                                        Department of Computer Science &amp; Engineering, M.A.C.E                                                                        37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DE43B53-3EF8-63FA-BB1F-3BF6394F2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614" y="3768923"/>
            <a:ext cx="5652116" cy="19716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70908CD-834D-A463-04DC-C25A016D0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0497" y="3518948"/>
            <a:ext cx="4170198" cy="273684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BE422FE-A73E-EA4E-9237-67FA87D024B8}"/>
              </a:ext>
            </a:extLst>
          </p:cNvPr>
          <p:cNvSpPr txBox="1"/>
          <p:nvPr/>
        </p:nvSpPr>
        <p:spPr>
          <a:xfrm>
            <a:off x="2637943" y="1085435"/>
            <a:ext cx="711040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Published in : Springer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Journal : AI Perspectives &amp; Advances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Received 1</a:t>
            </a:r>
            <a:r>
              <a:rPr lang="en-IN" sz="2000" baseline="30000" dirty="0"/>
              <a:t>st</a:t>
            </a:r>
            <a:r>
              <a:rPr lang="en-IN" sz="2000" dirty="0"/>
              <a:t> technical check review : suggested for amendment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Implemented the suggestions and send for 2</a:t>
            </a:r>
            <a:r>
              <a:rPr lang="en-IN" sz="2000" baseline="30000" dirty="0"/>
              <a:t>nd</a:t>
            </a:r>
            <a:r>
              <a:rPr lang="en-IN" sz="2000" dirty="0"/>
              <a:t> review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6983CE-070C-A749-51AB-4D7BA468B4F6}"/>
              </a:ext>
            </a:extLst>
          </p:cNvPr>
          <p:cNvSpPr txBox="1"/>
          <p:nvPr/>
        </p:nvSpPr>
        <p:spPr>
          <a:xfrm>
            <a:off x="1976618" y="5699502"/>
            <a:ext cx="6125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 15 : </a:t>
            </a:r>
            <a:r>
              <a:rPr lang="en-IN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Research Square pre-print status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4BF759-D50A-D711-7511-464FD0479241}"/>
              </a:ext>
            </a:extLst>
          </p:cNvPr>
          <p:cNvSpPr txBox="1"/>
          <p:nvPr/>
        </p:nvSpPr>
        <p:spPr>
          <a:xfrm>
            <a:off x="6955408" y="5961902"/>
            <a:ext cx="6125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 16 : </a:t>
            </a:r>
            <a:r>
              <a:rPr lang="en-IN" sz="1800" dirty="0">
                <a:solidFill>
                  <a:srgbClr val="1F1F1F"/>
                </a:solidFill>
                <a:highlight>
                  <a:srgbClr val="FFFFFF"/>
                </a:highlight>
                <a:latin typeface="Google Sans"/>
                <a:cs typeface="Times New Roman" panose="02020603050405020304" pitchFamily="18" charset="0"/>
              </a:rPr>
              <a:t>Springer Status</a:t>
            </a:r>
            <a:r>
              <a:rPr lang="en-IN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6586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1430</TotalTime>
  <Words>3792</Words>
  <Application>Microsoft Office PowerPoint</Application>
  <PresentationFormat>Widescreen</PresentationFormat>
  <Paragraphs>1121</Paragraphs>
  <Slides>38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5" baseType="lpstr">
      <vt:lpstr>Arial</vt:lpstr>
      <vt:lpstr>Calibri</vt:lpstr>
      <vt:lpstr>Calibri Light</vt:lpstr>
      <vt:lpstr>Cambria Math</vt:lpstr>
      <vt:lpstr>Google Sans</vt:lpstr>
      <vt:lpstr>Times New Roman</vt:lpstr>
      <vt:lpstr>Office Theme</vt:lpstr>
      <vt:lpstr>VISION VERSE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Architecture</vt:lpstr>
      <vt:lpstr>PowerPoint Presentation</vt:lpstr>
      <vt:lpstr>PowerPoint Presentation</vt:lpstr>
      <vt:lpstr>PowerPoint Presentation</vt:lpstr>
      <vt:lpstr>PowerPoint Presentation</vt:lpstr>
      <vt:lpstr>Chunking and Embedding </vt:lpstr>
      <vt:lpstr>Store vectors &amp; snippets in a VectorDB</vt:lpstr>
      <vt:lpstr>PowerPoint Presentation</vt:lpstr>
      <vt:lpstr>Data Retrieval Augmented Generation (Contd.) </vt:lpstr>
      <vt:lpstr>Data Retrieval Augmented Generation (Contd.)</vt:lpstr>
      <vt:lpstr>Data Retrieval Augmented Generation (Contd.)</vt:lpstr>
      <vt:lpstr>Data Retrieval Augmented Generation (Contd.)</vt:lpstr>
      <vt:lpstr>Data Retrieval Augmented Generation (Contd.)</vt:lpstr>
      <vt:lpstr>Data Retrieval Augmented Generation (Contd.)</vt:lpstr>
      <vt:lpstr>Software Requirements</vt:lpstr>
      <vt:lpstr>PowerPoint Presentation</vt:lpstr>
      <vt:lpstr>PowerPoint Presentation</vt:lpstr>
      <vt:lpstr>PowerPoint Presentation</vt:lpstr>
      <vt:lpstr>Frontend of chat interface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 VERSE</dc:title>
  <dc:creator>Microsoft Office User</dc:creator>
  <cp:lastModifiedBy>Abhiram ARS</cp:lastModifiedBy>
  <cp:revision>17</cp:revision>
  <dcterms:created xsi:type="dcterms:W3CDTF">2024-05-02T06:48:37Z</dcterms:created>
  <dcterms:modified xsi:type="dcterms:W3CDTF">2024-05-09T03:45:42Z</dcterms:modified>
</cp:coreProperties>
</file>